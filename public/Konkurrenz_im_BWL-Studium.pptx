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Begrüßung und Vorstellung des Teams. Thema: Wie nehmen BWL-Bachelorstudierende Konkurrenz im Hochschulalltag wahr? Die beiden Kreise stehen für die Spannung, die sich durch die gesamte Studie zieht: Konkurrenz und Kooperation.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Überblick über den Ablauf: Wir starten mit der Forschungsfrage, erklären Methode, Sampling und Auswertung und stellen dann erste Ergebnisse und eine vorläufige Theorie vor.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 interessiert nicht Konkurrenz als Konzept, sondern wie sie konkret erlebt wird: In welchen Situationen sie auftaucht, wie Studierende damit umgehen und welche Bedeutung sie hat. Relevanz: Konkurrenz prägt den Alltag, wird aber kaum offen angesprochen – im BWL-Studium mit seiner starken Leistungs- und Karriereorientierung besonders spannend.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haben uns bewusst für Einzelinterviews entschieden. Konkurrenz ist ein Thema, über das man vor Kommilitonen ungern spricht. Im Einzelgespräch trauen sich Befragte eher, ehrlich zu antworten, ohne auf soziale Erwünschtheit oder die Wirkung auf andere achten zu müssen. Interviews dauerten 30–45 Minuten, wurden mit Einverständnis aufgezeichnet und anonymisiert transkribiert.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Leitfaden ist halbstrukturiert und folgt sieben Phasen – vom Einstieg über biografischen Hintergrund und Leistungserfahrungen bis zur Konkurrenzwahrnehmung. Die Forschungsfrage stellen wir nie direkt, sondern nähern uns mit Erzählfragen und Nachfragen an. So orientieren sich die Ergebnisse an den tatsächlichen Erfahrungen der Interviewten.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haben sechs Interviews mit BWL-Bachelorstudierenden verschiedener Hochschulen geführt. Rekrutiert über unser persönliches Netzwerk – nach einigen Absagen stand die finale Stichprobe. Wir haben auf Heterogenität geachtet: unterschiedliche Hochschulen und Studienfortschritt, weil sich die Wahrnehmung im Verlauf ändern kann. Es ist also keine Zufallsstichprobe, sondern eine bewusste, fragestellungsorientierte Auswahl – typisch für qualitative Forschung.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Ausgewertet wird nach der Grounded Theory in drei Schritten: Offenes Kodieren direkt am Text, axiales Kodieren zur Bündelung in Kategorien und Analyse ihrer Beziehungen, und selektives Kodieren zur Verdichtung auf eine Kernkategorie, aus der eine gegenstandsbezogene Theorie entsteht.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axialen Kodieren haben sich vier Überkategorien herausgebildet: Wahrnehmung, Gründe bzw. Ursachen, Verhalten und emotionaler Umgang. Jede Kategorie ist weiter mit Codes hinterlegt. Als Kernkategorie sind Wahrnehmung und Wirkung entscheidend, weil sie Ursache und Folge gleichermaßen berücksichtigen.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Erste Auswertung: Konkurrenz wird überwiegend situationsabhängig wahrgenommen – geprägt vom persönlichen Hintergrund und der Einstellung zur Leistung. Am deutlichsten werden Unterschiede bei Praktikumsplätzen: Zielstrebige wollen unbedingt die besseren Stellen, weniger Ambitionierten ist das eher gleichgültig. Im Freundes- und Lerngruppenkreis überwiegt dagegen meist Kooperation. Insgesamt hängt die Wahrnehmung stark vom Kontext und den sozialen Beziehungen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Unsere vorläufige gegenstandsbezogene Theorie: Konkurrenzwahrnehmung entsteht nicht grundsätzlich durch das BWL-Studium, sondern wird vor allem in Situationen ausgelöst, in denen um begrenzte Ressourcen oder leistungsbezogene Vorteile konkurriert wird. Vertrauensvolle Beziehungen und kooperative Lernformen wirken dem entgegen. Das Konkurrenzempfinden ergibt sich also aus dem Zusammenspiel beider Kräfte.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Ausblick: Die vorläufige Annahme wird in der weiteren Auswertung überprüft und anhand zusätzlicher Codierungen weiterentwickelt. Danke für die Aufmerksamkeit – wir freuen uns auf Fragen und Diskussion.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61F"/>
        </a:solidFill>
      </p:bgPr>
    </p:bg>
    <p:spTree>
      <p:nvGrpSpPr>
        <p:cNvPr id="1" name=""/>
        <p:cNvGrpSpPr/>
        <p:nvPr/>
      </p:nvGrpSpPr>
      <p:grpSpPr>
        <a:xfrm>
          <a:off x="0" y="0"/>
          <a:ext cx="0" cy="0"/>
          <a:chOff x="0" y="0"/>
          <a:chExt cx="0" cy="0"/>
        </a:xfrm>
      </p:grpSpPr>
      <p:sp>
        <p:nvSpPr>
          <p:cNvPr id="2" name="Shape 0"/>
          <p:cNvSpPr/>
          <p:nvPr/>
        </p:nvSpPr>
        <p:spPr>
          <a:xfrm>
            <a:off x="5394960" y="822960"/>
            <a:ext cx="3017520" cy="3017520"/>
          </a:xfrm>
          <a:prstGeom prst="ellipse">
            <a:avLst/>
          </a:prstGeom>
          <a:solidFill>
            <a:srgbClr val="E8553B">
              <a:alpha val="90000"/>
            </a:srgbClr>
          </a:solidFill>
          <a:ln w="12700">
            <a:solidFill>
              <a:srgbClr val="E8553B">
                <a:alpha val="0"/>
              </a:srgbClr>
            </a:solidFill>
            <a:prstDash val="solid"/>
          </a:ln>
        </p:spPr>
      </p:sp>
      <p:sp>
        <p:nvSpPr>
          <p:cNvPr id="3" name="Shape 1"/>
          <p:cNvSpPr/>
          <p:nvPr/>
        </p:nvSpPr>
        <p:spPr>
          <a:xfrm>
            <a:off x="6675120" y="1737360"/>
            <a:ext cx="2377440" cy="2377440"/>
          </a:xfrm>
          <a:prstGeom prst="ellipse">
            <a:avLst/>
          </a:prstGeom>
          <a:solidFill>
            <a:srgbClr val="2A9D8F">
              <a:alpha val="75000"/>
            </a:srgbClr>
          </a:solidFill>
          <a:ln w="12700">
            <a:solidFill>
              <a:srgbClr val="2A9D8F">
                <a:alpha val="0"/>
              </a:srgbClr>
            </a:solidFill>
            <a:prstDash val="solid"/>
          </a:ln>
        </p:spPr>
      </p:sp>
      <p:sp>
        <p:nvSpPr>
          <p:cNvPr id="4" name="Text 2"/>
          <p:cNvSpPr txBox="1"/>
          <p:nvPr/>
        </p:nvSpPr>
        <p:spPr>
          <a:xfrm>
            <a:off x="5715000" y="1920240"/>
            <a:ext cx="146304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Konkurrenz</a:t>
            </a:r>
            <a:endParaRPr lang="en-US" sz="1100" dirty="0"/>
          </a:p>
        </p:txBody>
      </p:sp>
      <p:sp>
        <p:nvSpPr>
          <p:cNvPr id="5" name="Text 3"/>
          <p:cNvSpPr txBox="1"/>
          <p:nvPr/>
        </p:nvSpPr>
        <p:spPr>
          <a:xfrm>
            <a:off x="7543800" y="3291840"/>
            <a:ext cx="1463040" cy="2743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Kooperation</a:t>
            </a:r>
            <a:endParaRPr lang="en-US" sz="1100" dirty="0"/>
          </a:p>
        </p:txBody>
      </p:sp>
      <p:sp>
        <p:nvSpPr>
          <p:cNvPr id="6" name="Text 4"/>
          <p:cNvSpPr txBox="1"/>
          <p:nvPr/>
        </p:nvSpPr>
        <p:spPr>
          <a:xfrm>
            <a:off x="548640" y="640080"/>
            <a:ext cx="5029200" cy="274320"/>
          </a:xfrm>
          <a:prstGeom prst="rect">
            <a:avLst/>
          </a:prstGeom>
          <a:noFill/>
          <a:ln/>
        </p:spPr>
        <p:txBody>
          <a:bodyPr wrap="square" lIns="0" tIns="0" rIns="0" bIns="0" rtlCol="0" anchor="ctr"/>
          <a:lstStyle/>
          <a:p>
            <a:pPr indent="0" marL="0">
              <a:buNone/>
            </a:pPr>
            <a:r>
              <a:rPr lang="en-US" sz="900" b="1" spc="300" kern="0" dirty="0">
                <a:solidFill>
                  <a:srgbClr val="E8553B"/>
                </a:solidFill>
                <a:latin typeface="Arial" pitchFamily="34" charset="0"/>
                <a:ea typeface="Arial" pitchFamily="34" charset="-122"/>
                <a:cs typeface="Arial" pitchFamily="34" charset="-120"/>
              </a:rPr>
              <a:t>QUALITATIVE METHODEN  ·  FORSCHUNGSPROJEKT</a:t>
            </a:r>
            <a:endParaRPr lang="en-US" sz="900" dirty="0"/>
          </a:p>
        </p:txBody>
      </p:sp>
      <p:sp>
        <p:nvSpPr>
          <p:cNvPr id="7" name="Text 5"/>
          <p:cNvSpPr txBox="1"/>
          <p:nvPr/>
        </p:nvSpPr>
        <p:spPr>
          <a:xfrm>
            <a:off x="548640" y="1097280"/>
            <a:ext cx="4937760" cy="155448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Konkurrenz im</a:t>
            </a:r>
            <a:endParaRPr lang="en-US" sz="4400" dirty="0"/>
          </a:p>
          <a:p>
            <a:pPr indent="0" marL="0">
              <a:buNone/>
            </a:pPr>
            <a:r>
              <a:rPr lang="en-US" sz="4400" b="1" dirty="0">
                <a:solidFill>
                  <a:srgbClr val="FFFFFF"/>
                </a:solidFill>
                <a:latin typeface="Arial" pitchFamily="34" charset="0"/>
                <a:ea typeface="Arial" pitchFamily="34" charset="-122"/>
                <a:cs typeface="Arial" pitchFamily="34" charset="-120"/>
              </a:rPr>
              <a:t>BWL-Studium</a:t>
            </a:r>
            <a:endParaRPr lang="en-US" sz="4400" dirty="0"/>
          </a:p>
        </p:txBody>
      </p:sp>
      <p:sp>
        <p:nvSpPr>
          <p:cNvPr id="8" name="Text 6"/>
          <p:cNvSpPr txBox="1"/>
          <p:nvPr/>
        </p:nvSpPr>
        <p:spPr>
          <a:xfrm>
            <a:off x="548640" y="2788920"/>
            <a:ext cx="4480560" cy="731520"/>
          </a:xfrm>
          <a:prstGeom prst="rect">
            <a:avLst/>
          </a:prstGeom>
          <a:noFill/>
          <a:ln/>
        </p:spPr>
        <p:txBody>
          <a:bodyPr wrap="square" lIns="0" tIns="0" rIns="0" bIns="0" rtlCol="0" anchor="t"/>
          <a:lstStyle/>
          <a:p>
            <a:pPr indent="0" marL="0">
              <a:buNone/>
            </a:pPr>
            <a:r>
              <a:rPr lang="en-US" sz="1500" dirty="0">
                <a:solidFill>
                  <a:srgbClr val="C9CCD8"/>
                </a:solidFill>
                <a:latin typeface="Calibri" pitchFamily="34" charset="0"/>
                <a:ea typeface="Calibri" pitchFamily="34" charset="-122"/>
                <a:cs typeface="Calibri" pitchFamily="34" charset="-120"/>
              </a:rPr>
              <a:t>Wie Bachelorstudierende Wettbewerb im Hochschulalltag wahrnehmen – und was sie dagegen setzen.</a:t>
            </a:r>
            <a:endParaRPr lang="en-US" sz="1500" dirty="0"/>
          </a:p>
        </p:txBody>
      </p:sp>
      <p:sp>
        <p:nvSpPr>
          <p:cNvPr id="9" name="Text 7"/>
          <p:cNvSpPr txBox="1"/>
          <p:nvPr/>
        </p:nvSpPr>
        <p:spPr>
          <a:xfrm>
            <a:off x="548640" y="4343400"/>
            <a:ext cx="5486400" cy="274320"/>
          </a:xfrm>
          <a:prstGeom prst="rect">
            <a:avLst/>
          </a:prstGeom>
          <a:noFill/>
          <a:ln/>
        </p:spPr>
        <p:txBody>
          <a:bodyPr wrap="square" lIns="0" tIns="0" rIns="0" bIns="0" rtlCol="0" anchor="ctr"/>
          <a:lstStyle/>
          <a:p>
            <a:pPr indent="0" marL="0">
              <a:buNone/>
            </a:pPr>
            <a:r>
              <a:rPr lang="en-US" sz="1100" dirty="0">
                <a:solidFill>
                  <a:srgbClr val="8A8FA3"/>
                </a:solidFill>
                <a:latin typeface="Calibri" pitchFamily="34" charset="0"/>
                <a:ea typeface="Calibri" pitchFamily="34" charset="-122"/>
                <a:cs typeface="Calibri" pitchFamily="34" charset="-120"/>
              </a:rPr>
              <a:t>Kerim Arslan  ·  Moritz Mansen  ·  Maximilian Schims  ·  Philip Stock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548640"/>
            <a:ext cx="2743200" cy="731520"/>
          </a:xfrm>
          <a:prstGeom prst="rect">
            <a:avLst/>
          </a:prstGeom>
          <a:noFill/>
          <a:ln/>
        </p:spPr>
        <p:txBody>
          <a:bodyPr wrap="square" lIns="0" tIns="0" rIns="0" bIns="0" rtlCol="0" anchor="ctr"/>
          <a:lstStyle/>
          <a:p>
            <a:pPr indent="0" marL="0">
              <a:buNone/>
            </a:pPr>
            <a:r>
              <a:rPr lang="en-US" sz="3600" b="1" dirty="0">
                <a:solidFill>
                  <a:srgbClr val="1A1C25"/>
                </a:solidFill>
                <a:latin typeface="Arial" pitchFamily="34" charset="0"/>
                <a:ea typeface="Arial" pitchFamily="34" charset="-122"/>
                <a:cs typeface="Arial" pitchFamily="34" charset="-120"/>
              </a:rPr>
              <a:t>Agenda</a:t>
            </a:r>
            <a:endParaRPr lang="en-US" sz="3600" dirty="0"/>
          </a:p>
        </p:txBody>
      </p:sp>
      <p:sp>
        <p:nvSpPr>
          <p:cNvPr id="3" name="Text 1"/>
          <p:cNvSpPr txBox="1"/>
          <p:nvPr/>
        </p:nvSpPr>
        <p:spPr>
          <a:xfrm>
            <a:off x="457200" y="1325880"/>
            <a:ext cx="2651760" cy="822960"/>
          </a:xfrm>
          <a:prstGeom prst="rect">
            <a:avLst/>
          </a:prstGeom>
          <a:noFill/>
          <a:ln/>
        </p:spPr>
        <p:txBody>
          <a:bodyPr wrap="square" lIns="0" tIns="0" rIns="0" bIns="0" rtlCol="0" anchor="t"/>
          <a:lstStyle/>
          <a:p>
            <a:pPr indent="0" marL="0">
              <a:buNone/>
            </a:pPr>
            <a:r>
              <a:rPr lang="en-US" sz="1300" dirty="0">
                <a:solidFill>
                  <a:srgbClr val="646A7C"/>
                </a:solidFill>
                <a:latin typeface="Calibri" pitchFamily="34" charset="0"/>
                <a:ea typeface="Calibri" pitchFamily="34" charset="-122"/>
                <a:cs typeface="Calibri" pitchFamily="34" charset="-120"/>
              </a:rPr>
              <a:t>Von der Fragestellung zur gegenstandsbezogenen Theorie</a:t>
            </a:r>
            <a:endParaRPr lang="en-US" sz="1300" dirty="0"/>
          </a:p>
        </p:txBody>
      </p:sp>
      <p:sp>
        <p:nvSpPr>
          <p:cNvPr id="4" name="Shape 2"/>
          <p:cNvSpPr/>
          <p:nvPr/>
        </p:nvSpPr>
        <p:spPr>
          <a:xfrm>
            <a:off x="457200" y="3291840"/>
            <a:ext cx="914400" cy="914400"/>
          </a:xfrm>
          <a:prstGeom prst="ellipse">
            <a:avLst/>
          </a:prstGeom>
          <a:solidFill>
            <a:srgbClr val="FCE6E0"/>
          </a:solidFill>
          <a:ln w="12700">
            <a:solidFill>
              <a:srgbClr val="FCE6E0"/>
            </a:solidFill>
            <a:prstDash val="solid"/>
          </a:ln>
        </p:spPr>
      </p:sp>
      <p:pic>
        <p:nvPicPr>
          <p:cNvPr id="5" name="Image 0" descr="preencoded.png">    </p:cNvPr>
          <p:cNvPicPr>
            <a:picLocks noChangeAspect="1"/>
          </p:cNvPicPr>
          <p:nvPr/>
        </p:nvPicPr>
        <p:blipFill>
          <a:blip r:embed="rId1"/>
          <a:stretch>
            <a:fillRect/>
          </a:stretch>
        </p:blipFill>
        <p:spPr>
          <a:xfrm>
            <a:off x="685800" y="3520440"/>
            <a:ext cx="457200" cy="457200"/>
          </a:xfrm>
          <a:prstGeom prst="rect">
            <a:avLst/>
          </a:prstGeom>
        </p:spPr>
      </p:pic>
      <p:sp>
        <p:nvSpPr>
          <p:cNvPr id="6" name="Text 3"/>
          <p:cNvSpPr txBox="1"/>
          <p:nvPr/>
        </p:nvSpPr>
        <p:spPr>
          <a:xfrm>
            <a:off x="3840480" y="548640"/>
            <a:ext cx="640080" cy="621792"/>
          </a:xfrm>
          <a:prstGeom prst="rect">
            <a:avLst/>
          </a:prstGeom>
          <a:noFill/>
          <a:ln/>
        </p:spPr>
        <p:txBody>
          <a:bodyPr wrap="square" lIns="0" tIns="0" rIns="0" bIns="0" rtlCol="0" anchor="ctr"/>
          <a:lstStyle/>
          <a:p>
            <a:pPr indent="0" marL="0">
              <a:buNone/>
            </a:pPr>
            <a:r>
              <a:rPr lang="en-US" sz="2000" b="1" dirty="0">
                <a:solidFill>
                  <a:srgbClr val="E8553B"/>
                </a:solidFill>
                <a:latin typeface="Arial" pitchFamily="34" charset="0"/>
                <a:ea typeface="Arial" pitchFamily="34" charset="-122"/>
                <a:cs typeface="Arial" pitchFamily="34" charset="-120"/>
              </a:rPr>
              <a:t>01</a:t>
            </a:r>
            <a:endParaRPr lang="en-US" sz="2000" dirty="0"/>
          </a:p>
        </p:txBody>
      </p:sp>
      <p:sp>
        <p:nvSpPr>
          <p:cNvPr id="7" name="Text 4"/>
          <p:cNvSpPr txBox="1"/>
          <p:nvPr/>
        </p:nvSpPr>
        <p:spPr>
          <a:xfrm>
            <a:off x="4572000" y="548640"/>
            <a:ext cx="2103120" cy="621792"/>
          </a:xfrm>
          <a:prstGeom prst="rect">
            <a:avLst/>
          </a:prstGeom>
          <a:noFill/>
          <a:ln/>
        </p:spPr>
        <p:txBody>
          <a:bodyPr wrap="square" lIns="0" tIns="0" rIns="0" bIns="0" rtlCol="0" anchor="ctr"/>
          <a:lstStyle/>
          <a:p>
            <a:pPr indent="0" marL="0">
              <a:buNone/>
            </a:pPr>
            <a:r>
              <a:rPr lang="en-US" sz="1500" b="1" dirty="0">
                <a:solidFill>
                  <a:srgbClr val="1A1C25"/>
                </a:solidFill>
                <a:latin typeface="Arial" pitchFamily="34" charset="0"/>
                <a:ea typeface="Arial" pitchFamily="34" charset="-122"/>
                <a:cs typeface="Arial" pitchFamily="34" charset="-120"/>
              </a:rPr>
              <a:t>Forschungsfrage</a:t>
            </a:r>
            <a:endParaRPr lang="en-US" sz="1500" dirty="0"/>
          </a:p>
        </p:txBody>
      </p:sp>
      <p:sp>
        <p:nvSpPr>
          <p:cNvPr id="8" name="Text 5"/>
          <p:cNvSpPr txBox="1"/>
          <p:nvPr/>
        </p:nvSpPr>
        <p:spPr>
          <a:xfrm>
            <a:off x="6675120" y="548640"/>
            <a:ext cx="2011680" cy="621792"/>
          </a:xfrm>
          <a:prstGeom prst="rect">
            <a:avLst/>
          </a:prstGeom>
          <a:noFill/>
          <a:ln/>
        </p:spPr>
        <p:txBody>
          <a:bodyPr wrap="square" lIns="0" tIns="0" rIns="0" bIns="0" rtlCol="0" anchor="ctr"/>
          <a:lstStyle/>
          <a:p>
            <a:pPr indent="0" marL="0">
              <a:buNone/>
            </a:pPr>
            <a:r>
              <a:rPr lang="en-US" sz="1150" dirty="0">
                <a:solidFill>
                  <a:srgbClr val="646A7C"/>
                </a:solidFill>
                <a:latin typeface="Calibri" pitchFamily="34" charset="0"/>
                <a:ea typeface="Calibri" pitchFamily="34" charset="-122"/>
                <a:cs typeface="Calibri" pitchFamily="34" charset="-120"/>
              </a:rPr>
              <a:t>Erkenntnisinteresse &amp; Relevanz</a:t>
            </a:r>
            <a:endParaRPr lang="en-US" sz="1150" dirty="0"/>
          </a:p>
        </p:txBody>
      </p:sp>
      <p:sp>
        <p:nvSpPr>
          <p:cNvPr id="9" name="Shape 6"/>
          <p:cNvSpPr/>
          <p:nvPr/>
        </p:nvSpPr>
        <p:spPr>
          <a:xfrm>
            <a:off x="3840480" y="1170432"/>
            <a:ext cx="4846320" cy="0"/>
          </a:xfrm>
          <a:prstGeom prst="line">
            <a:avLst/>
          </a:prstGeom>
          <a:noFill/>
          <a:ln w="9525">
            <a:solidFill>
              <a:srgbClr val="DADCE3"/>
            </a:solidFill>
            <a:prstDash val="solid"/>
          </a:ln>
        </p:spPr>
      </p:sp>
      <p:sp>
        <p:nvSpPr>
          <p:cNvPr id="10" name="Text 7"/>
          <p:cNvSpPr txBox="1"/>
          <p:nvPr/>
        </p:nvSpPr>
        <p:spPr>
          <a:xfrm>
            <a:off x="3840480" y="1170432"/>
            <a:ext cx="640080" cy="621792"/>
          </a:xfrm>
          <a:prstGeom prst="rect">
            <a:avLst/>
          </a:prstGeom>
          <a:noFill/>
          <a:ln/>
        </p:spPr>
        <p:txBody>
          <a:bodyPr wrap="square" lIns="0" tIns="0" rIns="0" bIns="0" rtlCol="0" anchor="ctr"/>
          <a:lstStyle/>
          <a:p>
            <a:pPr indent="0" marL="0">
              <a:buNone/>
            </a:pPr>
            <a:r>
              <a:rPr lang="en-US" sz="2000" b="1" dirty="0">
                <a:solidFill>
                  <a:srgbClr val="E8553B"/>
                </a:solidFill>
                <a:latin typeface="Arial" pitchFamily="34" charset="0"/>
                <a:ea typeface="Arial" pitchFamily="34" charset="-122"/>
                <a:cs typeface="Arial" pitchFamily="34" charset="-120"/>
              </a:rPr>
              <a:t>02</a:t>
            </a:r>
            <a:endParaRPr lang="en-US" sz="2000" dirty="0"/>
          </a:p>
        </p:txBody>
      </p:sp>
      <p:sp>
        <p:nvSpPr>
          <p:cNvPr id="11" name="Text 8"/>
          <p:cNvSpPr txBox="1"/>
          <p:nvPr/>
        </p:nvSpPr>
        <p:spPr>
          <a:xfrm>
            <a:off x="4572000" y="1170432"/>
            <a:ext cx="2103120" cy="621792"/>
          </a:xfrm>
          <a:prstGeom prst="rect">
            <a:avLst/>
          </a:prstGeom>
          <a:noFill/>
          <a:ln/>
        </p:spPr>
        <p:txBody>
          <a:bodyPr wrap="square" lIns="0" tIns="0" rIns="0" bIns="0" rtlCol="0" anchor="ctr"/>
          <a:lstStyle/>
          <a:p>
            <a:pPr indent="0" marL="0">
              <a:buNone/>
            </a:pPr>
            <a:r>
              <a:rPr lang="en-US" sz="1500" b="1" dirty="0">
                <a:solidFill>
                  <a:srgbClr val="1A1C25"/>
                </a:solidFill>
                <a:latin typeface="Arial" pitchFamily="34" charset="0"/>
                <a:ea typeface="Arial" pitchFamily="34" charset="-122"/>
                <a:cs typeface="Arial" pitchFamily="34" charset="-120"/>
              </a:rPr>
              <a:t>Erhebungsmethode</a:t>
            </a:r>
            <a:endParaRPr lang="en-US" sz="1500" dirty="0"/>
          </a:p>
        </p:txBody>
      </p:sp>
      <p:sp>
        <p:nvSpPr>
          <p:cNvPr id="12" name="Text 9"/>
          <p:cNvSpPr txBox="1"/>
          <p:nvPr/>
        </p:nvSpPr>
        <p:spPr>
          <a:xfrm>
            <a:off x="6675120" y="1170432"/>
            <a:ext cx="2011680" cy="621792"/>
          </a:xfrm>
          <a:prstGeom prst="rect">
            <a:avLst/>
          </a:prstGeom>
          <a:noFill/>
          <a:ln/>
        </p:spPr>
        <p:txBody>
          <a:bodyPr wrap="square" lIns="0" tIns="0" rIns="0" bIns="0" rtlCol="0" anchor="ctr"/>
          <a:lstStyle/>
          <a:p>
            <a:pPr indent="0" marL="0">
              <a:buNone/>
            </a:pPr>
            <a:r>
              <a:rPr lang="en-US" sz="1150" dirty="0">
                <a:solidFill>
                  <a:srgbClr val="646A7C"/>
                </a:solidFill>
                <a:latin typeface="Calibri" pitchFamily="34" charset="0"/>
                <a:ea typeface="Calibri" pitchFamily="34" charset="-122"/>
                <a:cs typeface="Calibri" pitchFamily="34" charset="-120"/>
              </a:rPr>
              <a:t>Leitfadengestützte Einzelinterviews</a:t>
            </a:r>
            <a:endParaRPr lang="en-US" sz="1150" dirty="0"/>
          </a:p>
        </p:txBody>
      </p:sp>
      <p:sp>
        <p:nvSpPr>
          <p:cNvPr id="13" name="Shape 10"/>
          <p:cNvSpPr/>
          <p:nvPr/>
        </p:nvSpPr>
        <p:spPr>
          <a:xfrm>
            <a:off x="3840480" y="1792224"/>
            <a:ext cx="4846320" cy="0"/>
          </a:xfrm>
          <a:prstGeom prst="line">
            <a:avLst/>
          </a:prstGeom>
          <a:noFill/>
          <a:ln w="9525">
            <a:solidFill>
              <a:srgbClr val="DADCE3"/>
            </a:solidFill>
            <a:prstDash val="solid"/>
          </a:ln>
        </p:spPr>
      </p:sp>
      <p:sp>
        <p:nvSpPr>
          <p:cNvPr id="14" name="Text 11"/>
          <p:cNvSpPr txBox="1"/>
          <p:nvPr/>
        </p:nvSpPr>
        <p:spPr>
          <a:xfrm>
            <a:off x="3840480" y="1792224"/>
            <a:ext cx="640080" cy="621792"/>
          </a:xfrm>
          <a:prstGeom prst="rect">
            <a:avLst/>
          </a:prstGeom>
          <a:noFill/>
          <a:ln/>
        </p:spPr>
        <p:txBody>
          <a:bodyPr wrap="square" lIns="0" tIns="0" rIns="0" bIns="0" rtlCol="0" anchor="ctr"/>
          <a:lstStyle/>
          <a:p>
            <a:pPr indent="0" marL="0">
              <a:buNone/>
            </a:pPr>
            <a:r>
              <a:rPr lang="en-US" sz="2000" b="1" dirty="0">
                <a:solidFill>
                  <a:srgbClr val="E8553B"/>
                </a:solidFill>
                <a:latin typeface="Arial" pitchFamily="34" charset="0"/>
                <a:ea typeface="Arial" pitchFamily="34" charset="-122"/>
                <a:cs typeface="Arial" pitchFamily="34" charset="-120"/>
              </a:rPr>
              <a:t>03</a:t>
            </a:r>
            <a:endParaRPr lang="en-US" sz="2000" dirty="0"/>
          </a:p>
        </p:txBody>
      </p:sp>
      <p:sp>
        <p:nvSpPr>
          <p:cNvPr id="15" name="Text 12"/>
          <p:cNvSpPr txBox="1"/>
          <p:nvPr/>
        </p:nvSpPr>
        <p:spPr>
          <a:xfrm>
            <a:off x="4572000" y="1792224"/>
            <a:ext cx="2103120" cy="621792"/>
          </a:xfrm>
          <a:prstGeom prst="rect">
            <a:avLst/>
          </a:prstGeom>
          <a:noFill/>
          <a:ln/>
        </p:spPr>
        <p:txBody>
          <a:bodyPr wrap="square" lIns="0" tIns="0" rIns="0" bIns="0" rtlCol="0" anchor="ctr"/>
          <a:lstStyle/>
          <a:p>
            <a:pPr indent="0" marL="0">
              <a:buNone/>
            </a:pPr>
            <a:r>
              <a:rPr lang="en-US" sz="1500" b="1" dirty="0">
                <a:solidFill>
                  <a:srgbClr val="1A1C25"/>
                </a:solidFill>
                <a:latin typeface="Arial" pitchFamily="34" charset="0"/>
                <a:ea typeface="Arial" pitchFamily="34" charset="-122"/>
                <a:cs typeface="Arial" pitchFamily="34" charset="-120"/>
              </a:rPr>
              <a:t>Sampling</a:t>
            </a:r>
            <a:endParaRPr lang="en-US" sz="1500" dirty="0"/>
          </a:p>
        </p:txBody>
      </p:sp>
      <p:sp>
        <p:nvSpPr>
          <p:cNvPr id="16" name="Text 13"/>
          <p:cNvSpPr txBox="1"/>
          <p:nvPr/>
        </p:nvSpPr>
        <p:spPr>
          <a:xfrm>
            <a:off x="6675120" y="1792224"/>
            <a:ext cx="2011680" cy="621792"/>
          </a:xfrm>
          <a:prstGeom prst="rect">
            <a:avLst/>
          </a:prstGeom>
          <a:noFill/>
          <a:ln/>
        </p:spPr>
        <p:txBody>
          <a:bodyPr wrap="square" lIns="0" tIns="0" rIns="0" bIns="0" rtlCol="0" anchor="ctr"/>
          <a:lstStyle/>
          <a:p>
            <a:pPr indent="0" marL="0">
              <a:buNone/>
            </a:pPr>
            <a:r>
              <a:rPr lang="en-US" sz="1150" dirty="0">
                <a:solidFill>
                  <a:srgbClr val="646A7C"/>
                </a:solidFill>
                <a:latin typeface="Calibri" pitchFamily="34" charset="0"/>
                <a:ea typeface="Calibri" pitchFamily="34" charset="-122"/>
                <a:cs typeface="Calibri" pitchFamily="34" charset="-120"/>
              </a:rPr>
              <a:t>Sechs Interviews, bewusste Auswahl</a:t>
            </a:r>
            <a:endParaRPr lang="en-US" sz="1150" dirty="0"/>
          </a:p>
        </p:txBody>
      </p:sp>
      <p:sp>
        <p:nvSpPr>
          <p:cNvPr id="17" name="Shape 14"/>
          <p:cNvSpPr/>
          <p:nvPr/>
        </p:nvSpPr>
        <p:spPr>
          <a:xfrm>
            <a:off x="3840480" y="2414016"/>
            <a:ext cx="4846320" cy="0"/>
          </a:xfrm>
          <a:prstGeom prst="line">
            <a:avLst/>
          </a:prstGeom>
          <a:noFill/>
          <a:ln w="9525">
            <a:solidFill>
              <a:srgbClr val="DADCE3"/>
            </a:solidFill>
            <a:prstDash val="solid"/>
          </a:ln>
        </p:spPr>
      </p:sp>
      <p:sp>
        <p:nvSpPr>
          <p:cNvPr id="18" name="Text 15"/>
          <p:cNvSpPr txBox="1"/>
          <p:nvPr/>
        </p:nvSpPr>
        <p:spPr>
          <a:xfrm>
            <a:off x="3840480" y="2414016"/>
            <a:ext cx="640080" cy="621792"/>
          </a:xfrm>
          <a:prstGeom prst="rect">
            <a:avLst/>
          </a:prstGeom>
          <a:noFill/>
          <a:ln/>
        </p:spPr>
        <p:txBody>
          <a:bodyPr wrap="square" lIns="0" tIns="0" rIns="0" bIns="0" rtlCol="0" anchor="ctr"/>
          <a:lstStyle/>
          <a:p>
            <a:pPr indent="0" marL="0">
              <a:buNone/>
            </a:pPr>
            <a:r>
              <a:rPr lang="en-US" sz="2000" b="1" dirty="0">
                <a:solidFill>
                  <a:srgbClr val="E8553B"/>
                </a:solidFill>
                <a:latin typeface="Arial" pitchFamily="34" charset="0"/>
                <a:ea typeface="Arial" pitchFamily="34" charset="-122"/>
                <a:cs typeface="Arial" pitchFamily="34" charset="-120"/>
              </a:rPr>
              <a:t>04</a:t>
            </a:r>
            <a:endParaRPr lang="en-US" sz="2000" dirty="0"/>
          </a:p>
        </p:txBody>
      </p:sp>
      <p:sp>
        <p:nvSpPr>
          <p:cNvPr id="19" name="Text 16"/>
          <p:cNvSpPr txBox="1"/>
          <p:nvPr/>
        </p:nvSpPr>
        <p:spPr>
          <a:xfrm>
            <a:off x="4572000" y="2414016"/>
            <a:ext cx="2103120" cy="621792"/>
          </a:xfrm>
          <a:prstGeom prst="rect">
            <a:avLst/>
          </a:prstGeom>
          <a:noFill/>
          <a:ln/>
        </p:spPr>
        <p:txBody>
          <a:bodyPr wrap="square" lIns="0" tIns="0" rIns="0" bIns="0" rtlCol="0" anchor="ctr"/>
          <a:lstStyle/>
          <a:p>
            <a:pPr indent="0" marL="0">
              <a:buNone/>
            </a:pPr>
            <a:r>
              <a:rPr lang="en-US" sz="1500" b="1" dirty="0">
                <a:solidFill>
                  <a:srgbClr val="1A1C25"/>
                </a:solidFill>
                <a:latin typeface="Arial" pitchFamily="34" charset="0"/>
                <a:ea typeface="Arial" pitchFamily="34" charset="-122"/>
                <a:cs typeface="Arial" pitchFamily="34" charset="-120"/>
              </a:rPr>
              <a:t>Auswertung</a:t>
            </a:r>
            <a:endParaRPr lang="en-US" sz="1500" dirty="0"/>
          </a:p>
        </p:txBody>
      </p:sp>
      <p:sp>
        <p:nvSpPr>
          <p:cNvPr id="20" name="Text 17"/>
          <p:cNvSpPr txBox="1"/>
          <p:nvPr/>
        </p:nvSpPr>
        <p:spPr>
          <a:xfrm>
            <a:off x="6675120" y="2414016"/>
            <a:ext cx="2011680" cy="621792"/>
          </a:xfrm>
          <a:prstGeom prst="rect">
            <a:avLst/>
          </a:prstGeom>
          <a:noFill/>
          <a:ln/>
        </p:spPr>
        <p:txBody>
          <a:bodyPr wrap="square" lIns="0" tIns="0" rIns="0" bIns="0" rtlCol="0" anchor="ctr"/>
          <a:lstStyle/>
          <a:p>
            <a:pPr indent="0" marL="0">
              <a:buNone/>
            </a:pPr>
            <a:r>
              <a:rPr lang="en-US" sz="1150" dirty="0">
                <a:solidFill>
                  <a:srgbClr val="646A7C"/>
                </a:solidFill>
                <a:latin typeface="Calibri" pitchFamily="34" charset="0"/>
                <a:ea typeface="Calibri" pitchFamily="34" charset="-122"/>
                <a:cs typeface="Calibri" pitchFamily="34" charset="-120"/>
              </a:rPr>
              <a:t>Grounded Theory &amp; Kategoriensystem</a:t>
            </a:r>
            <a:endParaRPr lang="en-US" sz="1150" dirty="0"/>
          </a:p>
        </p:txBody>
      </p:sp>
      <p:sp>
        <p:nvSpPr>
          <p:cNvPr id="21" name="Shape 18"/>
          <p:cNvSpPr/>
          <p:nvPr/>
        </p:nvSpPr>
        <p:spPr>
          <a:xfrm>
            <a:off x="3840480" y="3035808"/>
            <a:ext cx="4846320" cy="0"/>
          </a:xfrm>
          <a:prstGeom prst="line">
            <a:avLst/>
          </a:prstGeom>
          <a:noFill/>
          <a:ln w="9525">
            <a:solidFill>
              <a:srgbClr val="DADCE3"/>
            </a:solidFill>
            <a:prstDash val="solid"/>
          </a:ln>
        </p:spPr>
      </p:sp>
      <p:sp>
        <p:nvSpPr>
          <p:cNvPr id="22" name="Text 19"/>
          <p:cNvSpPr txBox="1"/>
          <p:nvPr/>
        </p:nvSpPr>
        <p:spPr>
          <a:xfrm>
            <a:off x="3840480" y="3035808"/>
            <a:ext cx="640080" cy="621792"/>
          </a:xfrm>
          <a:prstGeom prst="rect">
            <a:avLst/>
          </a:prstGeom>
          <a:noFill/>
          <a:ln/>
        </p:spPr>
        <p:txBody>
          <a:bodyPr wrap="square" lIns="0" tIns="0" rIns="0" bIns="0" rtlCol="0" anchor="ctr"/>
          <a:lstStyle/>
          <a:p>
            <a:pPr indent="0" marL="0">
              <a:buNone/>
            </a:pPr>
            <a:r>
              <a:rPr lang="en-US" sz="2000" b="1" dirty="0">
                <a:solidFill>
                  <a:srgbClr val="E8553B"/>
                </a:solidFill>
                <a:latin typeface="Arial" pitchFamily="34" charset="0"/>
                <a:ea typeface="Arial" pitchFamily="34" charset="-122"/>
                <a:cs typeface="Arial" pitchFamily="34" charset="-120"/>
              </a:rPr>
              <a:t>05</a:t>
            </a:r>
            <a:endParaRPr lang="en-US" sz="2000" dirty="0"/>
          </a:p>
        </p:txBody>
      </p:sp>
      <p:sp>
        <p:nvSpPr>
          <p:cNvPr id="23" name="Text 20"/>
          <p:cNvSpPr txBox="1"/>
          <p:nvPr/>
        </p:nvSpPr>
        <p:spPr>
          <a:xfrm>
            <a:off x="4572000" y="3035808"/>
            <a:ext cx="2103120" cy="621792"/>
          </a:xfrm>
          <a:prstGeom prst="rect">
            <a:avLst/>
          </a:prstGeom>
          <a:noFill/>
          <a:ln/>
        </p:spPr>
        <p:txBody>
          <a:bodyPr wrap="square" lIns="0" tIns="0" rIns="0" bIns="0" rtlCol="0" anchor="ctr"/>
          <a:lstStyle/>
          <a:p>
            <a:pPr indent="0" marL="0">
              <a:buNone/>
            </a:pPr>
            <a:r>
              <a:rPr lang="en-US" sz="1500" b="1" dirty="0">
                <a:solidFill>
                  <a:srgbClr val="1A1C25"/>
                </a:solidFill>
                <a:latin typeface="Arial" pitchFamily="34" charset="0"/>
                <a:ea typeface="Arial" pitchFamily="34" charset="-122"/>
                <a:cs typeface="Arial" pitchFamily="34" charset="-120"/>
              </a:rPr>
              <a:t>Erste Ergebnisse</a:t>
            </a:r>
            <a:endParaRPr lang="en-US" sz="1500" dirty="0"/>
          </a:p>
        </p:txBody>
      </p:sp>
      <p:sp>
        <p:nvSpPr>
          <p:cNvPr id="24" name="Text 21"/>
          <p:cNvSpPr txBox="1"/>
          <p:nvPr/>
        </p:nvSpPr>
        <p:spPr>
          <a:xfrm>
            <a:off x="6675120" y="3035808"/>
            <a:ext cx="2011680" cy="621792"/>
          </a:xfrm>
          <a:prstGeom prst="rect">
            <a:avLst/>
          </a:prstGeom>
          <a:noFill/>
          <a:ln/>
        </p:spPr>
        <p:txBody>
          <a:bodyPr wrap="square" lIns="0" tIns="0" rIns="0" bIns="0" rtlCol="0" anchor="ctr"/>
          <a:lstStyle/>
          <a:p>
            <a:pPr indent="0" marL="0">
              <a:buNone/>
            </a:pPr>
            <a:r>
              <a:rPr lang="en-US" sz="1150" dirty="0">
                <a:solidFill>
                  <a:srgbClr val="646A7C"/>
                </a:solidFill>
                <a:latin typeface="Calibri" pitchFamily="34" charset="0"/>
                <a:ea typeface="Calibri" pitchFamily="34" charset="-122"/>
                <a:cs typeface="Calibri" pitchFamily="34" charset="-120"/>
              </a:rPr>
              <a:t>Konkurrenz als situatives Phänomen</a:t>
            </a:r>
            <a:endParaRPr lang="en-US" sz="1150" dirty="0"/>
          </a:p>
        </p:txBody>
      </p:sp>
      <p:sp>
        <p:nvSpPr>
          <p:cNvPr id="25" name="Shape 22"/>
          <p:cNvSpPr/>
          <p:nvPr/>
        </p:nvSpPr>
        <p:spPr>
          <a:xfrm>
            <a:off x="3840480" y="3657600"/>
            <a:ext cx="4846320" cy="0"/>
          </a:xfrm>
          <a:prstGeom prst="line">
            <a:avLst/>
          </a:prstGeom>
          <a:noFill/>
          <a:ln w="9525">
            <a:solidFill>
              <a:srgbClr val="DADCE3"/>
            </a:solidFill>
            <a:prstDash val="solid"/>
          </a:ln>
        </p:spPr>
      </p:sp>
      <p:sp>
        <p:nvSpPr>
          <p:cNvPr id="26" name="Text 23"/>
          <p:cNvSpPr txBox="1"/>
          <p:nvPr/>
        </p:nvSpPr>
        <p:spPr>
          <a:xfrm>
            <a:off x="3840480" y="3657600"/>
            <a:ext cx="640080" cy="621792"/>
          </a:xfrm>
          <a:prstGeom prst="rect">
            <a:avLst/>
          </a:prstGeom>
          <a:noFill/>
          <a:ln/>
        </p:spPr>
        <p:txBody>
          <a:bodyPr wrap="square" lIns="0" tIns="0" rIns="0" bIns="0" rtlCol="0" anchor="ctr"/>
          <a:lstStyle/>
          <a:p>
            <a:pPr indent="0" marL="0">
              <a:buNone/>
            </a:pPr>
            <a:r>
              <a:rPr lang="en-US" sz="2000" b="1" dirty="0">
                <a:solidFill>
                  <a:srgbClr val="E8553B"/>
                </a:solidFill>
                <a:latin typeface="Arial" pitchFamily="34" charset="0"/>
                <a:ea typeface="Arial" pitchFamily="34" charset="-122"/>
                <a:cs typeface="Arial" pitchFamily="34" charset="-120"/>
              </a:rPr>
              <a:t>06</a:t>
            </a:r>
            <a:endParaRPr lang="en-US" sz="2000" dirty="0"/>
          </a:p>
        </p:txBody>
      </p:sp>
      <p:sp>
        <p:nvSpPr>
          <p:cNvPr id="27" name="Text 24"/>
          <p:cNvSpPr txBox="1"/>
          <p:nvPr/>
        </p:nvSpPr>
        <p:spPr>
          <a:xfrm>
            <a:off x="4572000" y="3657600"/>
            <a:ext cx="2103120" cy="621792"/>
          </a:xfrm>
          <a:prstGeom prst="rect">
            <a:avLst/>
          </a:prstGeom>
          <a:noFill/>
          <a:ln/>
        </p:spPr>
        <p:txBody>
          <a:bodyPr wrap="square" lIns="0" tIns="0" rIns="0" bIns="0" rtlCol="0" anchor="ctr"/>
          <a:lstStyle/>
          <a:p>
            <a:pPr indent="0" marL="0">
              <a:buNone/>
            </a:pPr>
            <a:r>
              <a:rPr lang="en-US" sz="1500" b="1" dirty="0">
                <a:solidFill>
                  <a:srgbClr val="1A1C25"/>
                </a:solidFill>
                <a:latin typeface="Arial" pitchFamily="34" charset="0"/>
                <a:ea typeface="Arial" pitchFamily="34" charset="-122"/>
                <a:cs typeface="Arial" pitchFamily="34" charset="-120"/>
              </a:rPr>
              <a:t>Theoriebildung</a:t>
            </a:r>
            <a:endParaRPr lang="en-US" sz="1500" dirty="0"/>
          </a:p>
        </p:txBody>
      </p:sp>
      <p:sp>
        <p:nvSpPr>
          <p:cNvPr id="28" name="Text 25"/>
          <p:cNvSpPr txBox="1"/>
          <p:nvPr/>
        </p:nvSpPr>
        <p:spPr>
          <a:xfrm>
            <a:off x="6675120" y="3657600"/>
            <a:ext cx="2011680" cy="621792"/>
          </a:xfrm>
          <a:prstGeom prst="rect">
            <a:avLst/>
          </a:prstGeom>
          <a:noFill/>
          <a:ln/>
        </p:spPr>
        <p:txBody>
          <a:bodyPr wrap="square" lIns="0" tIns="0" rIns="0" bIns="0" rtlCol="0" anchor="ctr"/>
          <a:lstStyle/>
          <a:p>
            <a:pPr indent="0" marL="0">
              <a:buNone/>
            </a:pPr>
            <a:r>
              <a:rPr lang="en-US" sz="1150" dirty="0">
                <a:solidFill>
                  <a:srgbClr val="646A7C"/>
                </a:solidFill>
                <a:latin typeface="Calibri" pitchFamily="34" charset="0"/>
                <a:ea typeface="Calibri" pitchFamily="34" charset="-122"/>
                <a:cs typeface="Calibri" pitchFamily="34" charset="-120"/>
              </a:rPr>
              <a:t>Wettbewerb trifft soziale Unterstützung</a:t>
            </a:r>
            <a:endParaRPr lang="en-US" sz="1150" dirty="0"/>
          </a:p>
        </p:txBody>
      </p:sp>
      <p:sp>
        <p:nvSpPr>
          <p:cNvPr id="29" name="Text 26"/>
          <p:cNvSpPr txBox="1"/>
          <p:nvPr/>
        </p:nvSpPr>
        <p:spPr>
          <a:xfrm>
            <a:off x="457200" y="4773168"/>
            <a:ext cx="5486400" cy="228600"/>
          </a:xfrm>
          <a:prstGeom prst="rect">
            <a:avLst/>
          </a:prstGeom>
          <a:noFill/>
          <a:ln/>
        </p:spPr>
        <p:txBody>
          <a:bodyPr wrap="square" lIns="0" tIns="0" rIns="0" bIns="0" rtlCol="0" anchor="ctr"/>
          <a:lstStyle/>
          <a:p>
            <a:pPr indent="0" marL="0">
              <a:buNone/>
            </a:pPr>
            <a:r>
              <a:rPr lang="en-US" sz="850" dirty="0">
                <a:solidFill>
                  <a:srgbClr val="646A7C"/>
                </a:solidFill>
                <a:latin typeface="Calibri" pitchFamily="34" charset="0"/>
                <a:ea typeface="Calibri" pitchFamily="34" charset="-122"/>
                <a:cs typeface="Calibri" pitchFamily="34" charset="-120"/>
              </a:rPr>
              <a:t>Qualitative Methoden  ·  Arslan, Mansen, Schims, Stock</a:t>
            </a:r>
            <a:endParaRPr lang="en-US" sz="850" dirty="0"/>
          </a:p>
        </p:txBody>
      </p:sp>
      <p:sp>
        <p:nvSpPr>
          <p:cNvPr id="30" name="Text 27"/>
          <p:cNvSpPr txBox="1"/>
          <p:nvPr/>
        </p:nvSpPr>
        <p:spPr>
          <a:xfrm>
            <a:off x="7315200" y="4773168"/>
            <a:ext cx="1371600" cy="228600"/>
          </a:xfrm>
          <a:prstGeom prst="rect">
            <a:avLst/>
          </a:prstGeom>
          <a:noFill/>
          <a:ln/>
        </p:spPr>
        <p:txBody>
          <a:bodyPr wrap="square" lIns="0" tIns="0" rIns="0" bIns="0" rtlCol="0" anchor="ctr"/>
          <a:lstStyle/>
          <a:p>
            <a:pPr algn="r" indent="0" marL="0">
              <a:buNone/>
            </a:pPr>
            <a:r>
              <a:rPr lang="en-US" sz="850" dirty="0">
                <a:solidFill>
                  <a:srgbClr val="646A7C"/>
                </a:solidFill>
                <a:latin typeface="Calibri" pitchFamily="34" charset="0"/>
                <a:ea typeface="Calibri" pitchFamily="34" charset="-122"/>
                <a:cs typeface="Calibri" pitchFamily="34" charset="-120"/>
              </a:rPr>
              <a:t>02 / 11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61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900" b="1" spc="300" kern="0" dirty="0">
                <a:solidFill>
                  <a:srgbClr val="E8553B"/>
                </a:solidFill>
                <a:latin typeface="Arial" pitchFamily="34" charset="0"/>
                <a:ea typeface="Arial" pitchFamily="34" charset="-122"/>
                <a:cs typeface="Arial" pitchFamily="34" charset="-120"/>
              </a:rPr>
              <a:t>01  —  FORSCHUNGSFRAGE</a:t>
            </a:r>
            <a:endParaRPr lang="en-US" sz="900" dirty="0"/>
          </a:p>
        </p:txBody>
      </p:sp>
      <p:sp>
        <p:nvSpPr>
          <p:cNvPr id="3" name="Text 1"/>
          <p:cNvSpPr txBox="1"/>
          <p:nvPr/>
        </p:nvSpPr>
        <p:spPr>
          <a:xfrm>
            <a:off x="365760" y="502920"/>
            <a:ext cx="731520" cy="914400"/>
          </a:xfrm>
          <a:prstGeom prst="rect">
            <a:avLst/>
          </a:prstGeom>
          <a:noFill/>
          <a:ln/>
        </p:spPr>
        <p:txBody>
          <a:bodyPr wrap="square" lIns="0" tIns="0" rIns="0" bIns="0" rtlCol="0" anchor="ctr"/>
          <a:lstStyle/>
          <a:p>
            <a:pPr indent="0" marL="0">
              <a:buNone/>
            </a:pPr>
            <a:r>
              <a:rPr lang="en-US" sz="7200" b="1" dirty="0">
                <a:solidFill>
                  <a:srgbClr val="E8553B"/>
                </a:solidFill>
                <a:latin typeface="Cambria" pitchFamily="34" charset="0"/>
                <a:ea typeface="Cambria" pitchFamily="34" charset="-122"/>
                <a:cs typeface="Cambria" pitchFamily="34" charset="-120"/>
              </a:rPr>
              <a:t>„</a:t>
            </a:r>
            <a:endParaRPr lang="en-US" sz="7200" dirty="0"/>
          </a:p>
        </p:txBody>
      </p:sp>
      <p:sp>
        <p:nvSpPr>
          <p:cNvPr id="4" name="Text 2"/>
          <p:cNvSpPr txBox="1"/>
          <p:nvPr/>
        </p:nvSpPr>
        <p:spPr>
          <a:xfrm>
            <a:off x="1051560" y="777240"/>
            <a:ext cx="7498080" cy="1188720"/>
          </a:xfrm>
          <a:prstGeom prst="rect">
            <a:avLst/>
          </a:prstGeom>
          <a:noFill/>
          <a:ln/>
        </p:spPr>
        <p:txBody>
          <a:bodyPr wrap="square" lIns="0" tIns="0" rIns="0" bIns="0" rtlCol="0" anchor="t"/>
          <a:lstStyle/>
          <a:p>
            <a:pPr indent="0" marL="0">
              <a:buNone/>
            </a:pPr>
            <a:r>
              <a:rPr lang="en-US" sz="2600" b="1" dirty="0">
                <a:solidFill>
                  <a:srgbClr val="FFFFFF"/>
                </a:solidFill>
                <a:latin typeface="Arial" pitchFamily="34" charset="0"/>
                <a:ea typeface="Arial" pitchFamily="34" charset="-122"/>
                <a:cs typeface="Arial" pitchFamily="34" charset="-120"/>
              </a:rPr>
              <a:t>Wie nehmen BWL-Bachelorstudierende Konkurrenz im Hochschulalltag wahr?</a:t>
            </a:r>
            <a:endParaRPr lang="en-US" sz="2600" dirty="0"/>
          </a:p>
        </p:txBody>
      </p:sp>
      <p:sp>
        <p:nvSpPr>
          <p:cNvPr id="5" name="Text 3"/>
          <p:cNvSpPr txBox="1"/>
          <p:nvPr/>
        </p:nvSpPr>
        <p:spPr>
          <a:xfrm>
            <a:off x="1051560" y="1965960"/>
            <a:ext cx="7498080" cy="365760"/>
          </a:xfrm>
          <a:prstGeom prst="rect">
            <a:avLst/>
          </a:prstGeom>
          <a:noFill/>
          <a:ln/>
        </p:spPr>
        <p:txBody>
          <a:bodyPr wrap="square" lIns="0" tIns="0" rIns="0" bIns="0" rtlCol="0" anchor="ctr"/>
          <a:lstStyle/>
          <a:p>
            <a:pPr indent="0" marL="0">
              <a:buNone/>
            </a:pPr>
            <a:r>
              <a:rPr lang="en-US" sz="1300" i="1" dirty="0">
                <a:solidFill>
                  <a:srgbClr val="C9CCD8"/>
                </a:solidFill>
                <a:latin typeface="Calibri" pitchFamily="34" charset="0"/>
                <a:ea typeface="Calibri" pitchFamily="34" charset="-122"/>
                <a:cs typeface="Calibri" pitchFamily="34" charset="-120"/>
              </a:rPr>
              <a:t>Nicht Konkurrenz als abstraktes Konzept – sondern ihre gelebte Erfahrung im Studienalltag.</a:t>
            </a:r>
            <a:endParaRPr lang="en-US" sz="1300" dirty="0"/>
          </a:p>
        </p:txBody>
      </p:sp>
      <p:sp>
        <p:nvSpPr>
          <p:cNvPr id="6" name="Shape 4"/>
          <p:cNvSpPr/>
          <p:nvPr/>
        </p:nvSpPr>
        <p:spPr>
          <a:xfrm>
            <a:off x="457200" y="2606040"/>
            <a:ext cx="2606040" cy="1417320"/>
          </a:xfrm>
          <a:prstGeom prst="roundRect">
            <a:avLst>
              <a:gd name="adj" fmla="val 5161"/>
            </a:avLst>
          </a:prstGeom>
          <a:solidFill>
            <a:srgbClr val="1F2230"/>
          </a:solidFill>
          <a:ln w="12700">
            <a:solidFill>
              <a:srgbClr val="1F2230"/>
            </a:solidFill>
            <a:prstDash val="solid"/>
          </a:ln>
        </p:spPr>
      </p:sp>
      <p:sp>
        <p:nvSpPr>
          <p:cNvPr id="7" name="Shape 5"/>
          <p:cNvSpPr/>
          <p:nvPr/>
        </p:nvSpPr>
        <p:spPr>
          <a:xfrm>
            <a:off x="685800" y="2834640"/>
            <a:ext cx="457200" cy="457200"/>
          </a:xfrm>
          <a:prstGeom prst="ellipse">
            <a:avLst/>
          </a:prstGeom>
          <a:solidFill>
            <a:srgbClr val="E8553B"/>
          </a:solidFill>
          <a:ln w="12700">
            <a:solidFill>
              <a:srgbClr val="E8553B"/>
            </a:solidFill>
            <a:prstDash val="solid"/>
          </a:ln>
        </p:spPr>
      </p:sp>
      <p:pic>
        <p:nvPicPr>
          <p:cNvPr id="8" name="Image 0" descr="preencoded.png">    </p:cNvPr>
          <p:cNvPicPr>
            <a:picLocks noChangeAspect="1"/>
          </p:cNvPicPr>
          <p:nvPr/>
        </p:nvPicPr>
        <p:blipFill>
          <a:blip r:embed="rId1"/>
          <a:stretch>
            <a:fillRect/>
          </a:stretch>
        </p:blipFill>
        <p:spPr>
          <a:xfrm>
            <a:off x="800100" y="2948940"/>
            <a:ext cx="228600" cy="228600"/>
          </a:xfrm>
          <a:prstGeom prst="rect">
            <a:avLst/>
          </a:prstGeom>
        </p:spPr>
      </p:pic>
      <p:sp>
        <p:nvSpPr>
          <p:cNvPr id="9" name="Text 6"/>
          <p:cNvSpPr txBox="1"/>
          <p:nvPr/>
        </p:nvSpPr>
        <p:spPr>
          <a:xfrm>
            <a:off x="1280160" y="2834640"/>
            <a:ext cx="1600200" cy="4572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Situationen</a:t>
            </a:r>
            <a:endParaRPr lang="en-US" sz="1500" dirty="0"/>
          </a:p>
        </p:txBody>
      </p:sp>
      <p:sp>
        <p:nvSpPr>
          <p:cNvPr id="10" name="Text 7"/>
          <p:cNvSpPr txBox="1"/>
          <p:nvPr/>
        </p:nvSpPr>
        <p:spPr>
          <a:xfrm>
            <a:off x="685800" y="3429000"/>
            <a:ext cx="2148840" cy="457200"/>
          </a:xfrm>
          <a:prstGeom prst="rect">
            <a:avLst/>
          </a:prstGeom>
          <a:noFill/>
          <a:ln/>
        </p:spPr>
        <p:txBody>
          <a:bodyPr wrap="square" lIns="0" tIns="0" rIns="0" bIns="0" rtlCol="0" anchor="t"/>
          <a:lstStyle/>
          <a:p>
            <a:pPr indent="0" marL="0">
              <a:buNone/>
            </a:pPr>
            <a:r>
              <a:rPr lang="en-US" sz="1200" dirty="0">
                <a:solidFill>
                  <a:srgbClr val="C9CCD8"/>
                </a:solidFill>
                <a:latin typeface="Calibri" pitchFamily="34" charset="0"/>
                <a:ea typeface="Calibri" pitchFamily="34" charset="-122"/>
                <a:cs typeface="Calibri" pitchFamily="34" charset="-120"/>
              </a:rPr>
              <a:t>In welchen Momenten taucht Konkurrenz auf?</a:t>
            </a:r>
            <a:endParaRPr lang="en-US" sz="1200" dirty="0"/>
          </a:p>
        </p:txBody>
      </p:sp>
      <p:sp>
        <p:nvSpPr>
          <p:cNvPr id="11" name="Shape 8"/>
          <p:cNvSpPr/>
          <p:nvPr/>
        </p:nvSpPr>
        <p:spPr>
          <a:xfrm>
            <a:off x="3337560" y="2606040"/>
            <a:ext cx="2606040" cy="1417320"/>
          </a:xfrm>
          <a:prstGeom prst="roundRect">
            <a:avLst>
              <a:gd name="adj" fmla="val 5161"/>
            </a:avLst>
          </a:prstGeom>
          <a:solidFill>
            <a:srgbClr val="1F2230"/>
          </a:solidFill>
          <a:ln w="12700">
            <a:solidFill>
              <a:srgbClr val="1F2230"/>
            </a:solidFill>
            <a:prstDash val="solid"/>
          </a:ln>
        </p:spPr>
      </p:sp>
      <p:sp>
        <p:nvSpPr>
          <p:cNvPr id="12" name="Shape 9"/>
          <p:cNvSpPr/>
          <p:nvPr/>
        </p:nvSpPr>
        <p:spPr>
          <a:xfrm>
            <a:off x="3566160" y="2834640"/>
            <a:ext cx="457200" cy="457200"/>
          </a:xfrm>
          <a:prstGeom prst="ellipse">
            <a:avLst/>
          </a:prstGeom>
          <a:solidFill>
            <a:srgbClr val="E8553B"/>
          </a:solidFill>
          <a:ln w="12700">
            <a:solidFill>
              <a:srgbClr val="E8553B"/>
            </a:solidFill>
            <a:prstDash val="solid"/>
          </a:ln>
        </p:spPr>
      </p:sp>
      <p:pic>
        <p:nvPicPr>
          <p:cNvPr id="13" name="Image 1" descr="preencoded.png">    </p:cNvPr>
          <p:cNvPicPr>
            <a:picLocks noChangeAspect="1"/>
          </p:cNvPicPr>
          <p:nvPr/>
        </p:nvPicPr>
        <p:blipFill>
          <a:blip r:embed="rId2"/>
          <a:stretch>
            <a:fillRect/>
          </a:stretch>
        </p:blipFill>
        <p:spPr>
          <a:xfrm>
            <a:off x="3680460" y="2948940"/>
            <a:ext cx="228600" cy="228600"/>
          </a:xfrm>
          <a:prstGeom prst="rect">
            <a:avLst/>
          </a:prstGeom>
        </p:spPr>
      </p:pic>
      <p:sp>
        <p:nvSpPr>
          <p:cNvPr id="14" name="Text 10"/>
          <p:cNvSpPr txBox="1"/>
          <p:nvPr/>
        </p:nvSpPr>
        <p:spPr>
          <a:xfrm>
            <a:off x="4160520" y="2834640"/>
            <a:ext cx="1600200" cy="4572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Umgang</a:t>
            </a:r>
            <a:endParaRPr lang="en-US" sz="1500" dirty="0"/>
          </a:p>
        </p:txBody>
      </p:sp>
      <p:sp>
        <p:nvSpPr>
          <p:cNvPr id="15" name="Text 11"/>
          <p:cNvSpPr txBox="1"/>
          <p:nvPr/>
        </p:nvSpPr>
        <p:spPr>
          <a:xfrm>
            <a:off x="3566160" y="3429000"/>
            <a:ext cx="2148840" cy="457200"/>
          </a:xfrm>
          <a:prstGeom prst="rect">
            <a:avLst/>
          </a:prstGeom>
          <a:noFill/>
          <a:ln/>
        </p:spPr>
        <p:txBody>
          <a:bodyPr wrap="square" lIns="0" tIns="0" rIns="0" bIns="0" rtlCol="0" anchor="t"/>
          <a:lstStyle/>
          <a:p>
            <a:pPr indent="0" marL="0">
              <a:buNone/>
            </a:pPr>
            <a:r>
              <a:rPr lang="en-US" sz="1200" dirty="0">
                <a:solidFill>
                  <a:srgbClr val="C9CCD8"/>
                </a:solidFill>
                <a:latin typeface="Calibri" pitchFamily="34" charset="0"/>
                <a:ea typeface="Calibri" pitchFamily="34" charset="-122"/>
                <a:cs typeface="Calibri" pitchFamily="34" charset="-120"/>
              </a:rPr>
              <a:t>Wie gehen Studierende damit um?</a:t>
            </a:r>
            <a:endParaRPr lang="en-US" sz="1200" dirty="0"/>
          </a:p>
        </p:txBody>
      </p:sp>
      <p:sp>
        <p:nvSpPr>
          <p:cNvPr id="16" name="Shape 12"/>
          <p:cNvSpPr/>
          <p:nvPr/>
        </p:nvSpPr>
        <p:spPr>
          <a:xfrm>
            <a:off x="6217920" y="2606040"/>
            <a:ext cx="2606040" cy="1417320"/>
          </a:xfrm>
          <a:prstGeom prst="roundRect">
            <a:avLst>
              <a:gd name="adj" fmla="val 5161"/>
            </a:avLst>
          </a:prstGeom>
          <a:solidFill>
            <a:srgbClr val="1F2230"/>
          </a:solidFill>
          <a:ln w="12700">
            <a:solidFill>
              <a:srgbClr val="1F2230"/>
            </a:solidFill>
            <a:prstDash val="solid"/>
          </a:ln>
        </p:spPr>
      </p:sp>
      <p:sp>
        <p:nvSpPr>
          <p:cNvPr id="17" name="Shape 13"/>
          <p:cNvSpPr/>
          <p:nvPr/>
        </p:nvSpPr>
        <p:spPr>
          <a:xfrm>
            <a:off x="6446520" y="2834640"/>
            <a:ext cx="457200" cy="457200"/>
          </a:xfrm>
          <a:prstGeom prst="ellipse">
            <a:avLst/>
          </a:prstGeom>
          <a:solidFill>
            <a:srgbClr val="E8553B"/>
          </a:solidFill>
          <a:ln w="12700">
            <a:solidFill>
              <a:srgbClr val="E8553B"/>
            </a:solidFill>
            <a:prstDash val="solid"/>
          </a:ln>
        </p:spPr>
      </p:sp>
      <p:pic>
        <p:nvPicPr>
          <p:cNvPr id="18" name="Image 2" descr="preencoded.png">    </p:cNvPr>
          <p:cNvPicPr>
            <a:picLocks noChangeAspect="1"/>
          </p:cNvPicPr>
          <p:nvPr/>
        </p:nvPicPr>
        <p:blipFill>
          <a:blip r:embed="rId3"/>
          <a:stretch>
            <a:fillRect/>
          </a:stretch>
        </p:blipFill>
        <p:spPr>
          <a:xfrm>
            <a:off x="6560820" y="2948940"/>
            <a:ext cx="228600" cy="228600"/>
          </a:xfrm>
          <a:prstGeom prst="rect">
            <a:avLst/>
          </a:prstGeom>
        </p:spPr>
      </p:pic>
      <p:sp>
        <p:nvSpPr>
          <p:cNvPr id="19" name="Text 14"/>
          <p:cNvSpPr txBox="1"/>
          <p:nvPr/>
        </p:nvSpPr>
        <p:spPr>
          <a:xfrm>
            <a:off x="7040880" y="2834640"/>
            <a:ext cx="1600200" cy="45720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Bedeutung</a:t>
            </a:r>
            <a:endParaRPr lang="en-US" sz="1500" dirty="0"/>
          </a:p>
        </p:txBody>
      </p:sp>
      <p:sp>
        <p:nvSpPr>
          <p:cNvPr id="20" name="Text 15"/>
          <p:cNvSpPr txBox="1"/>
          <p:nvPr/>
        </p:nvSpPr>
        <p:spPr>
          <a:xfrm>
            <a:off x="6446520" y="3429000"/>
            <a:ext cx="2148840" cy="457200"/>
          </a:xfrm>
          <a:prstGeom prst="rect">
            <a:avLst/>
          </a:prstGeom>
          <a:noFill/>
          <a:ln/>
        </p:spPr>
        <p:txBody>
          <a:bodyPr wrap="square" lIns="0" tIns="0" rIns="0" bIns="0" rtlCol="0" anchor="t"/>
          <a:lstStyle/>
          <a:p>
            <a:pPr indent="0" marL="0">
              <a:buNone/>
            </a:pPr>
            <a:r>
              <a:rPr lang="en-US" sz="1200" dirty="0">
                <a:solidFill>
                  <a:srgbClr val="C9CCD8"/>
                </a:solidFill>
                <a:latin typeface="Calibri" pitchFamily="34" charset="0"/>
                <a:ea typeface="Calibri" pitchFamily="34" charset="-122"/>
                <a:cs typeface="Calibri" pitchFamily="34" charset="-120"/>
              </a:rPr>
              <a:t>Welche Rolle spielt sie für die Einzelnen?</a:t>
            </a:r>
            <a:endParaRPr lang="en-US" sz="1200" dirty="0"/>
          </a:p>
        </p:txBody>
      </p:sp>
      <p:sp>
        <p:nvSpPr>
          <p:cNvPr id="21" name="Text 16"/>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150" b="1" dirty="0">
                <a:solidFill>
                  <a:srgbClr val="E8553B"/>
                </a:solidFill>
                <a:latin typeface="Calibri" pitchFamily="34" charset="0"/>
                <a:ea typeface="Calibri" pitchFamily="34" charset="-122"/>
                <a:cs typeface="Calibri" pitchFamily="34" charset="-120"/>
              </a:rPr>
              <a:t>Warum relevant? </a:t>
            </a:r>
            <a:pPr indent="0" marL="0">
              <a:buNone/>
            </a:pPr>
            <a:r>
              <a:rPr lang="en-US" sz="1150" dirty="0">
                <a:solidFill>
                  <a:srgbClr val="C9CCD8"/>
                </a:solidFill>
                <a:latin typeface="Calibri" pitchFamily="34" charset="0"/>
                <a:ea typeface="Calibri" pitchFamily="34" charset="-122"/>
                <a:cs typeface="Calibri" pitchFamily="34" charset="-120"/>
              </a:rPr>
              <a:t>Konkurrenz prägt den Studienalltag vieler, wird aber selten offen thematisiert – gerade im leistungs- und karriereorientierten BWL-Studium.</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900" b="1" spc="300" kern="0" dirty="0">
                <a:solidFill>
                  <a:srgbClr val="E8553B"/>
                </a:solidFill>
                <a:latin typeface="Arial" pitchFamily="34" charset="0"/>
                <a:ea typeface="Arial" pitchFamily="34" charset="-122"/>
                <a:cs typeface="Arial" pitchFamily="34" charset="-120"/>
              </a:rPr>
              <a:t>02  —  ERHEBUNGSMETHODE</a:t>
            </a:r>
            <a:endParaRPr lang="en-US" sz="900" dirty="0"/>
          </a:p>
        </p:txBody>
      </p:sp>
      <p:sp>
        <p:nvSpPr>
          <p:cNvPr id="3" name="Text 1"/>
          <p:cNvSpPr txBox="1"/>
          <p:nvPr/>
        </p:nvSpPr>
        <p:spPr>
          <a:xfrm>
            <a:off x="457200" y="621792"/>
            <a:ext cx="8229600" cy="685800"/>
          </a:xfrm>
          <a:prstGeom prst="rect">
            <a:avLst/>
          </a:prstGeom>
          <a:noFill/>
          <a:ln/>
        </p:spPr>
        <p:txBody>
          <a:bodyPr wrap="square" lIns="0" tIns="0" rIns="0" bIns="0" rtlCol="0" anchor="t"/>
          <a:lstStyle/>
          <a:p>
            <a:pPr indent="0" marL="0">
              <a:buNone/>
            </a:pPr>
            <a:r>
              <a:rPr lang="en-US" sz="2800" b="1" dirty="0">
                <a:solidFill>
                  <a:srgbClr val="1A1C25"/>
                </a:solidFill>
                <a:latin typeface="Arial" pitchFamily="34" charset="0"/>
                <a:ea typeface="Arial" pitchFamily="34" charset="-122"/>
                <a:cs typeface="Arial" pitchFamily="34" charset="-120"/>
              </a:rPr>
              <a:t>Einzelinterviews statt Gruppendiskussion</a:t>
            </a:r>
            <a:endParaRPr lang="en-US" sz="2800" dirty="0"/>
          </a:p>
        </p:txBody>
      </p:sp>
      <p:sp>
        <p:nvSpPr>
          <p:cNvPr id="4" name="Shape 2"/>
          <p:cNvSpPr/>
          <p:nvPr/>
        </p:nvSpPr>
        <p:spPr>
          <a:xfrm>
            <a:off x="457200" y="1508760"/>
            <a:ext cx="2743200" cy="3017520"/>
          </a:xfrm>
          <a:prstGeom prst="roundRect">
            <a:avLst>
              <a:gd name="adj" fmla="val 2667"/>
            </a:avLst>
          </a:prstGeom>
          <a:solidFill>
            <a:srgbClr val="FFFFFF"/>
          </a:solidFill>
          <a:ln w="9525">
            <a:solidFill>
              <a:srgbClr val="DADCE3"/>
            </a:solidFill>
            <a:prstDash val="solid"/>
          </a:ln>
          <a:effectLst>
            <a:outerShdw sx="100000" sy="100000" kx="0" ky="0" algn="bl" rotWithShape="0" blurRad="101600" dist="25400" dir="5400000">
              <a:srgbClr val="000000">
                <a:alpha val="10000"/>
              </a:srgbClr>
            </a:outerShdw>
          </a:effectLst>
        </p:spPr>
      </p:sp>
      <p:sp>
        <p:nvSpPr>
          <p:cNvPr id="5" name="Shape 3"/>
          <p:cNvSpPr/>
          <p:nvPr/>
        </p:nvSpPr>
        <p:spPr>
          <a:xfrm>
            <a:off x="685800" y="1783080"/>
            <a:ext cx="548640" cy="548640"/>
          </a:xfrm>
          <a:prstGeom prst="ellipse">
            <a:avLst/>
          </a:prstGeom>
          <a:solidFill>
            <a:srgbClr val="E8553B"/>
          </a:solidFill>
          <a:ln w="12700">
            <a:solidFill>
              <a:srgbClr val="E8553B"/>
            </a:solidFill>
            <a:prstDash val="solid"/>
          </a:ln>
        </p:spPr>
      </p:sp>
      <p:pic>
        <p:nvPicPr>
          <p:cNvPr id="6" name="Image 0" descr="preencoded.png">    </p:cNvPr>
          <p:cNvPicPr>
            <a:picLocks noChangeAspect="1"/>
          </p:cNvPicPr>
          <p:nvPr/>
        </p:nvPicPr>
        <p:blipFill>
          <a:blip r:embed="rId1"/>
          <a:stretch>
            <a:fillRect/>
          </a:stretch>
        </p:blipFill>
        <p:spPr>
          <a:xfrm>
            <a:off x="822960" y="1920240"/>
            <a:ext cx="274320" cy="274320"/>
          </a:xfrm>
          <a:prstGeom prst="rect">
            <a:avLst/>
          </a:prstGeom>
        </p:spPr>
      </p:pic>
      <p:sp>
        <p:nvSpPr>
          <p:cNvPr id="7" name="Text 4"/>
          <p:cNvSpPr txBox="1"/>
          <p:nvPr/>
        </p:nvSpPr>
        <p:spPr>
          <a:xfrm>
            <a:off x="1371600" y="1783080"/>
            <a:ext cx="1645920" cy="228600"/>
          </a:xfrm>
          <a:prstGeom prst="rect">
            <a:avLst/>
          </a:prstGeom>
          <a:noFill/>
          <a:ln/>
        </p:spPr>
        <p:txBody>
          <a:bodyPr wrap="square" lIns="0" tIns="0" rIns="0" bIns="0" rtlCol="0" anchor="ctr"/>
          <a:lstStyle/>
          <a:p>
            <a:pPr indent="0" marL="0">
              <a:buNone/>
            </a:pPr>
            <a:r>
              <a:rPr lang="en-US" sz="850" b="1" spc="200" kern="0" dirty="0">
                <a:solidFill>
                  <a:srgbClr val="E8553B"/>
                </a:solidFill>
                <a:latin typeface="Arial" pitchFamily="34" charset="0"/>
                <a:ea typeface="Arial" pitchFamily="34" charset="-122"/>
                <a:cs typeface="Arial" pitchFamily="34" charset="-120"/>
              </a:rPr>
              <a:t>GEWÄHLT</a:t>
            </a:r>
            <a:endParaRPr lang="en-US" sz="850" dirty="0"/>
          </a:p>
        </p:txBody>
      </p:sp>
      <p:sp>
        <p:nvSpPr>
          <p:cNvPr id="8" name="Text 5"/>
          <p:cNvSpPr txBox="1"/>
          <p:nvPr/>
        </p:nvSpPr>
        <p:spPr>
          <a:xfrm>
            <a:off x="1371600" y="2011680"/>
            <a:ext cx="1737360" cy="320040"/>
          </a:xfrm>
          <a:prstGeom prst="rect">
            <a:avLst/>
          </a:prstGeom>
          <a:noFill/>
          <a:ln/>
        </p:spPr>
        <p:txBody>
          <a:bodyPr wrap="square" lIns="0" tIns="0" rIns="0" bIns="0" rtlCol="0" anchor="ctr"/>
          <a:lstStyle/>
          <a:p>
            <a:pPr indent="0" marL="0">
              <a:buNone/>
            </a:pPr>
            <a:r>
              <a:rPr lang="en-US" sz="1500" b="1" dirty="0">
                <a:solidFill>
                  <a:srgbClr val="1A1C25"/>
                </a:solidFill>
                <a:latin typeface="Arial" pitchFamily="34" charset="0"/>
                <a:ea typeface="Arial" pitchFamily="34" charset="-122"/>
                <a:cs typeface="Arial" pitchFamily="34" charset="-120"/>
              </a:rPr>
              <a:t>Einzelinterview</a:t>
            </a:r>
            <a:endParaRPr lang="en-US" sz="1500" dirty="0"/>
          </a:p>
        </p:txBody>
      </p:sp>
      <p:sp>
        <p:nvSpPr>
          <p:cNvPr id="9" name="Text 6"/>
          <p:cNvSpPr txBox="1"/>
          <p:nvPr/>
        </p:nvSpPr>
        <p:spPr>
          <a:xfrm>
            <a:off x="685800" y="2560320"/>
            <a:ext cx="237744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A1C25"/>
                </a:solidFill>
                <a:latin typeface="Calibri" pitchFamily="34" charset="0"/>
                <a:ea typeface="Calibri" pitchFamily="34" charset="-122"/>
                <a:cs typeface="Calibri" pitchFamily="34" charset="-120"/>
              </a:rPr>
              <a:t>Geschützter Rahmen für ein sensibles Thema</a:t>
            </a:r>
            <a:endParaRPr lang="en-US" sz="1200" dirty="0"/>
          </a:p>
          <a:p>
            <a:pPr marL="342900" indent="-342900">
              <a:spcAft>
                <a:spcPts val="600"/>
              </a:spcAft>
              <a:buSzPct val="100000"/>
              <a:buChar char="•"/>
            </a:pPr>
            <a:r>
              <a:rPr lang="en-US" sz="1200" dirty="0">
                <a:solidFill>
                  <a:srgbClr val="1A1C25"/>
                </a:solidFill>
                <a:latin typeface="Calibri" pitchFamily="34" charset="0"/>
                <a:ea typeface="Calibri" pitchFamily="34" charset="-122"/>
                <a:cs typeface="Calibri" pitchFamily="34" charset="-120"/>
              </a:rPr>
              <a:t>Ehrlichere, differenziertere Antworten</a:t>
            </a:r>
            <a:endParaRPr lang="en-US" sz="1200" dirty="0"/>
          </a:p>
          <a:p>
            <a:pPr marL="342900" indent="-342900">
              <a:spcAft>
                <a:spcPts val="600"/>
              </a:spcAft>
              <a:buSzPct val="100000"/>
              <a:buChar char="•"/>
            </a:pPr>
            <a:r>
              <a:rPr lang="en-US" sz="1200" dirty="0">
                <a:solidFill>
                  <a:srgbClr val="1A1C25"/>
                </a:solidFill>
                <a:latin typeface="Calibri" pitchFamily="34" charset="0"/>
                <a:ea typeface="Calibri" pitchFamily="34" charset="-122"/>
                <a:cs typeface="Calibri" pitchFamily="34" charset="-120"/>
              </a:rPr>
              <a:t>Weniger soziale Erwünschtheit</a:t>
            </a:r>
            <a:endParaRPr lang="en-US" sz="1200" dirty="0"/>
          </a:p>
        </p:txBody>
      </p:sp>
      <p:sp>
        <p:nvSpPr>
          <p:cNvPr id="10" name="Shape 7"/>
          <p:cNvSpPr/>
          <p:nvPr/>
        </p:nvSpPr>
        <p:spPr>
          <a:xfrm>
            <a:off x="3429000" y="1508760"/>
            <a:ext cx="2377440" cy="3017520"/>
          </a:xfrm>
          <a:prstGeom prst="roundRect">
            <a:avLst>
              <a:gd name="adj" fmla="val 3077"/>
            </a:avLst>
          </a:prstGeom>
          <a:solidFill>
            <a:srgbClr val="F2F3F6"/>
          </a:solidFill>
          <a:ln w="12700">
            <a:solidFill>
              <a:srgbClr val="F2F3F6"/>
            </a:solidFill>
            <a:prstDash val="solid"/>
          </a:ln>
        </p:spPr>
      </p:sp>
      <p:sp>
        <p:nvSpPr>
          <p:cNvPr id="11" name="Shape 8"/>
          <p:cNvSpPr/>
          <p:nvPr/>
        </p:nvSpPr>
        <p:spPr>
          <a:xfrm>
            <a:off x="3657600" y="1783080"/>
            <a:ext cx="548640" cy="548640"/>
          </a:xfrm>
          <a:prstGeom prst="ellipse">
            <a:avLst/>
          </a:prstGeom>
          <a:solidFill>
            <a:srgbClr val="C4C7D1"/>
          </a:solidFill>
          <a:ln w="12700">
            <a:solidFill>
              <a:srgbClr val="C4C7D1"/>
            </a:solidFill>
            <a:prstDash val="solid"/>
          </a:ln>
        </p:spPr>
      </p:sp>
      <p:pic>
        <p:nvPicPr>
          <p:cNvPr id="12" name="Image 1" descr="preencoded.png">    </p:cNvPr>
          <p:cNvPicPr>
            <a:picLocks noChangeAspect="1"/>
          </p:cNvPicPr>
          <p:nvPr/>
        </p:nvPicPr>
        <p:blipFill>
          <a:blip r:embed="rId2"/>
          <a:stretch>
            <a:fillRect/>
          </a:stretch>
        </p:blipFill>
        <p:spPr>
          <a:xfrm>
            <a:off x="3794760" y="1920240"/>
            <a:ext cx="274320" cy="274320"/>
          </a:xfrm>
          <a:prstGeom prst="rect">
            <a:avLst/>
          </a:prstGeom>
        </p:spPr>
      </p:pic>
      <p:sp>
        <p:nvSpPr>
          <p:cNvPr id="13" name="Text 9"/>
          <p:cNvSpPr txBox="1"/>
          <p:nvPr/>
        </p:nvSpPr>
        <p:spPr>
          <a:xfrm>
            <a:off x="4343400" y="1783080"/>
            <a:ext cx="1371600" cy="228600"/>
          </a:xfrm>
          <a:prstGeom prst="rect">
            <a:avLst/>
          </a:prstGeom>
          <a:noFill/>
          <a:ln/>
        </p:spPr>
        <p:txBody>
          <a:bodyPr wrap="square" lIns="0" tIns="0" rIns="0" bIns="0" rtlCol="0" anchor="ctr"/>
          <a:lstStyle/>
          <a:p>
            <a:pPr indent="0" marL="0">
              <a:buNone/>
            </a:pPr>
            <a:r>
              <a:rPr lang="en-US" sz="850" b="1" spc="200" kern="0" dirty="0">
                <a:solidFill>
                  <a:srgbClr val="646A7C"/>
                </a:solidFill>
                <a:latin typeface="Arial" pitchFamily="34" charset="0"/>
                <a:ea typeface="Arial" pitchFamily="34" charset="-122"/>
                <a:cs typeface="Arial" pitchFamily="34" charset="-120"/>
              </a:rPr>
              <a:t>VERWORFEN</a:t>
            </a:r>
            <a:endParaRPr lang="en-US" sz="850" dirty="0"/>
          </a:p>
        </p:txBody>
      </p:sp>
      <p:sp>
        <p:nvSpPr>
          <p:cNvPr id="14" name="Text 10"/>
          <p:cNvSpPr txBox="1"/>
          <p:nvPr/>
        </p:nvSpPr>
        <p:spPr>
          <a:xfrm>
            <a:off x="4343400" y="2011680"/>
            <a:ext cx="1371600" cy="320040"/>
          </a:xfrm>
          <a:prstGeom prst="rect">
            <a:avLst/>
          </a:prstGeom>
          <a:noFill/>
          <a:ln/>
        </p:spPr>
        <p:txBody>
          <a:bodyPr wrap="square" lIns="0" tIns="0" rIns="0" bIns="0" rtlCol="0" anchor="ctr"/>
          <a:lstStyle/>
          <a:p>
            <a:pPr indent="0" marL="0">
              <a:buNone/>
            </a:pPr>
            <a:r>
              <a:rPr lang="en-US" sz="1500" b="1" dirty="0">
                <a:solidFill>
                  <a:srgbClr val="646A7C"/>
                </a:solidFill>
                <a:latin typeface="Arial" pitchFamily="34" charset="0"/>
                <a:ea typeface="Arial" pitchFamily="34" charset="-122"/>
                <a:cs typeface="Arial" pitchFamily="34" charset="-120"/>
              </a:rPr>
              <a:t>Fokusgruppe</a:t>
            </a:r>
            <a:endParaRPr lang="en-US" sz="1500" dirty="0"/>
          </a:p>
        </p:txBody>
      </p:sp>
      <p:sp>
        <p:nvSpPr>
          <p:cNvPr id="15" name="Text 11"/>
          <p:cNvSpPr txBox="1"/>
          <p:nvPr/>
        </p:nvSpPr>
        <p:spPr>
          <a:xfrm>
            <a:off x="3657600" y="2560320"/>
            <a:ext cx="1965960" cy="17373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646A7C"/>
                </a:solidFill>
                <a:latin typeface="Calibri" pitchFamily="34" charset="0"/>
                <a:ea typeface="Calibri" pitchFamily="34" charset="-122"/>
                <a:cs typeface="Calibri" pitchFamily="34" charset="-120"/>
              </a:rPr>
              <a:t>Kommilitonen hören mit</a:t>
            </a:r>
            <a:endParaRPr lang="en-US" sz="1200" dirty="0"/>
          </a:p>
          <a:p>
            <a:pPr marL="342900" indent="-342900">
              <a:spcAft>
                <a:spcPts val="600"/>
              </a:spcAft>
              <a:buSzPct val="100000"/>
              <a:buChar char="•"/>
            </a:pPr>
            <a:r>
              <a:rPr lang="en-US" sz="1200" dirty="0">
                <a:solidFill>
                  <a:srgbClr val="646A7C"/>
                </a:solidFill>
                <a:latin typeface="Calibri" pitchFamily="34" charset="0"/>
                <a:ea typeface="Calibri" pitchFamily="34" charset="-122"/>
                <a:cs typeface="Calibri" pitchFamily="34" charset="-120"/>
              </a:rPr>
              <a:t>Hemmung, offen über Rivalität zu sprechen</a:t>
            </a:r>
            <a:endParaRPr lang="en-US" sz="1200" dirty="0"/>
          </a:p>
          <a:p>
            <a:pPr marL="342900" indent="-342900">
              <a:spcAft>
                <a:spcPts val="600"/>
              </a:spcAft>
              <a:buSzPct val="100000"/>
              <a:buChar char="•"/>
            </a:pPr>
            <a:r>
              <a:rPr lang="en-US" sz="1200" dirty="0">
                <a:solidFill>
                  <a:srgbClr val="646A7C"/>
                </a:solidFill>
                <a:latin typeface="Calibri" pitchFamily="34" charset="0"/>
                <a:ea typeface="Calibri" pitchFamily="34" charset="-122"/>
                <a:cs typeface="Calibri" pitchFamily="34" charset="-120"/>
              </a:rPr>
              <a:t>Gefahr geglätteter Aussagen</a:t>
            </a:r>
            <a:endParaRPr lang="en-US" sz="1200" dirty="0"/>
          </a:p>
        </p:txBody>
      </p:sp>
      <p:sp>
        <p:nvSpPr>
          <p:cNvPr id="16" name="Shape 12"/>
          <p:cNvSpPr/>
          <p:nvPr/>
        </p:nvSpPr>
        <p:spPr>
          <a:xfrm>
            <a:off x="6172200" y="1554480"/>
            <a:ext cx="502920" cy="502920"/>
          </a:xfrm>
          <a:prstGeom prst="ellipse">
            <a:avLst/>
          </a:prstGeom>
          <a:solidFill>
            <a:srgbClr val="FCE6E0"/>
          </a:solidFill>
          <a:ln w="12700">
            <a:solidFill>
              <a:srgbClr val="FCE6E0"/>
            </a:solidFill>
            <a:prstDash val="solid"/>
          </a:ln>
        </p:spPr>
      </p:sp>
      <p:pic>
        <p:nvPicPr>
          <p:cNvPr id="17" name="Image 2" descr="preencoded.png">    </p:cNvPr>
          <p:cNvPicPr>
            <a:picLocks noChangeAspect="1"/>
          </p:cNvPicPr>
          <p:nvPr/>
        </p:nvPicPr>
        <p:blipFill>
          <a:blip r:embed="rId3"/>
          <a:stretch>
            <a:fillRect/>
          </a:stretch>
        </p:blipFill>
        <p:spPr>
          <a:xfrm>
            <a:off x="6297930" y="1680210"/>
            <a:ext cx="251460" cy="251460"/>
          </a:xfrm>
          <a:prstGeom prst="rect">
            <a:avLst/>
          </a:prstGeom>
        </p:spPr>
      </p:pic>
      <p:sp>
        <p:nvSpPr>
          <p:cNvPr id="18" name="Text 13"/>
          <p:cNvSpPr txBox="1"/>
          <p:nvPr/>
        </p:nvSpPr>
        <p:spPr>
          <a:xfrm>
            <a:off x="6858000" y="1508760"/>
            <a:ext cx="1828800" cy="320040"/>
          </a:xfrm>
          <a:prstGeom prst="rect">
            <a:avLst/>
          </a:prstGeom>
          <a:noFill/>
          <a:ln/>
        </p:spPr>
        <p:txBody>
          <a:bodyPr wrap="square" lIns="0" tIns="0" rIns="0" bIns="0" rtlCol="0" anchor="ctr"/>
          <a:lstStyle/>
          <a:p>
            <a:pPr indent="0" marL="0">
              <a:buNone/>
            </a:pPr>
            <a:r>
              <a:rPr lang="en-US" sz="1500" b="1" dirty="0">
                <a:solidFill>
                  <a:srgbClr val="1A1C25"/>
                </a:solidFill>
                <a:latin typeface="Arial" pitchFamily="34" charset="0"/>
                <a:ea typeface="Arial" pitchFamily="34" charset="-122"/>
                <a:cs typeface="Arial" pitchFamily="34" charset="-120"/>
              </a:rPr>
              <a:t>30–45 Min.</a:t>
            </a:r>
            <a:endParaRPr lang="en-US" sz="1500" dirty="0"/>
          </a:p>
        </p:txBody>
      </p:sp>
      <p:sp>
        <p:nvSpPr>
          <p:cNvPr id="19" name="Text 14"/>
          <p:cNvSpPr txBox="1"/>
          <p:nvPr/>
        </p:nvSpPr>
        <p:spPr>
          <a:xfrm>
            <a:off x="6858000" y="1837944"/>
            <a:ext cx="1828800" cy="502920"/>
          </a:xfrm>
          <a:prstGeom prst="rect">
            <a:avLst/>
          </a:prstGeom>
          <a:noFill/>
          <a:ln/>
        </p:spPr>
        <p:txBody>
          <a:bodyPr wrap="square" lIns="0" tIns="0" rIns="0" bIns="0" rtlCol="0" anchor="t"/>
          <a:lstStyle/>
          <a:p>
            <a:pPr indent="0" marL="0">
              <a:buNone/>
            </a:pPr>
            <a:r>
              <a:rPr lang="en-US" sz="1100" dirty="0">
                <a:solidFill>
                  <a:srgbClr val="646A7C"/>
                </a:solidFill>
                <a:latin typeface="Calibri" pitchFamily="34" charset="0"/>
                <a:ea typeface="Calibri" pitchFamily="34" charset="-122"/>
                <a:cs typeface="Calibri" pitchFamily="34" charset="-120"/>
              </a:rPr>
              <a:t>pro Interview</a:t>
            </a:r>
            <a:endParaRPr lang="en-US" sz="1100" dirty="0"/>
          </a:p>
        </p:txBody>
      </p:sp>
      <p:sp>
        <p:nvSpPr>
          <p:cNvPr id="20" name="Shape 15"/>
          <p:cNvSpPr/>
          <p:nvPr/>
        </p:nvSpPr>
        <p:spPr>
          <a:xfrm>
            <a:off x="6172200" y="2578608"/>
            <a:ext cx="502920" cy="502920"/>
          </a:xfrm>
          <a:prstGeom prst="ellipse">
            <a:avLst/>
          </a:prstGeom>
          <a:solidFill>
            <a:srgbClr val="FCE6E0"/>
          </a:solidFill>
          <a:ln w="12700">
            <a:solidFill>
              <a:srgbClr val="FCE6E0"/>
            </a:solidFill>
            <a:prstDash val="solid"/>
          </a:ln>
        </p:spPr>
      </p:sp>
      <p:pic>
        <p:nvPicPr>
          <p:cNvPr id="21" name="Image 3" descr="preencoded.png">    </p:cNvPr>
          <p:cNvPicPr>
            <a:picLocks noChangeAspect="1"/>
          </p:cNvPicPr>
          <p:nvPr/>
        </p:nvPicPr>
        <p:blipFill>
          <a:blip r:embed="rId4"/>
          <a:stretch>
            <a:fillRect/>
          </a:stretch>
        </p:blipFill>
        <p:spPr>
          <a:xfrm>
            <a:off x="6297930" y="2704338"/>
            <a:ext cx="251460" cy="251460"/>
          </a:xfrm>
          <a:prstGeom prst="rect">
            <a:avLst/>
          </a:prstGeom>
        </p:spPr>
      </p:pic>
      <p:sp>
        <p:nvSpPr>
          <p:cNvPr id="22" name="Text 16"/>
          <p:cNvSpPr txBox="1"/>
          <p:nvPr/>
        </p:nvSpPr>
        <p:spPr>
          <a:xfrm>
            <a:off x="6858000" y="2532888"/>
            <a:ext cx="1828800" cy="320040"/>
          </a:xfrm>
          <a:prstGeom prst="rect">
            <a:avLst/>
          </a:prstGeom>
          <a:noFill/>
          <a:ln/>
        </p:spPr>
        <p:txBody>
          <a:bodyPr wrap="square" lIns="0" tIns="0" rIns="0" bIns="0" rtlCol="0" anchor="ctr"/>
          <a:lstStyle/>
          <a:p>
            <a:pPr indent="0" marL="0">
              <a:buNone/>
            </a:pPr>
            <a:r>
              <a:rPr lang="en-US" sz="1500" b="1" dirty="0">
                <a:solidFill>
                  <a:srgbClr val="1A1C25"/>
                </a:solidFill>
                <a:latin typeface="Arial" pitchFamily="34" charset="0"/>
                <a:ea typeface="Arial" pitchFamily="34" charset="-122"/>
                <a:cs typeface="Arial" pitchFamily="34" charset="-120"/>
              </a:rPr>
              <a:t>Halbstrukturiert</a:t>
            </a:r>
            <a:endParaRPr lang="en-US" sz="1500" dirty="0"/>
          </a:p>
        </p:txBody>
      </p:sp>
      <p:sp>
        <p:nvSpPr>
          <p:cNvPr id="23" name="Text 17"/>
          <p:cNvSpPr txBox="1"/>
          <p:nvPr/>
        </p:nvSpPr>
        <p:spPr>
          <a:xfrm>
            <a:off x="6858000" y="2862072"/>
            <a:ext cx="1828800" cy="502920"/>
          </a:xfrm>
          <a:prstGeom prst="rect">
            <a:avLst/>
          </a:prstGeom>
          <a:noFill/>
          <a:ln/>
        </p:spPr>
        <p:txBody>
          <a:bodyPr wrap="square" lIns="0" tIns="0" rIns="0" bIns="0" rtlCol="0" anchor="t"/>
          <a:lstStyle/>
          <a:p>
            <a:pPr indent="0" marL="0">
              <a:buNone/>
            </a:pPr>
            <a:r>
              <a:rPr lang="en-US" sz="1100" dirty="0">
                <a:solidFill>
                  <a:srgbClr val="646A7C"/>
                </a:solidFill>
                <a:latin typeface="Calibri" pitchFamily="34" charset="0"/>
                <a:ea typeface="Calibri" pitchFamily="34" charset="-122"/>
                <a:cs typeface="Calibri" pitchFamily="34" charset="-120"/>
              </a:rPr>
              <a:t>Leitfaden mit Raum für Erzählungen</a:t>
            </a:r>
            <a:endParaRPr lang="en-US" sz="1100" dirty="0"/>
          </a:p>
        </p:txBody>
      </p:sp>
      <p:sp>
        <p:nvSpPr>
          <p:cNvPr id="24" name="Shape 18"/>
          <p:cNvSpPr/>
          <p:nvPr/>
        </p:nvSpPr>
        <p:spPr>
          <a:xfrm>
            <a:off x="6172200" y="3602736"/>
            <a:ext cx="502920" cy="502920"/>
          </a:xfrm>
          <a:prstGeom prst="ellipse">
            <a:avLst/>
          </a:prstGeom>
          <a:solidFill>
            <a:srgbClr val="FCE6E0"/>
          </a:solidFill>
          <a:ln w="12700">
            <a:solidFill>
              <a:srgbClr val="FCE6E0"/>
            </a:solidFill>
            <a:prstDash val="solid"/>
          </a:ln>
        </p:spPr>
      </p:sp>
      <p:pic>
        <p:nvPicPr>
          <p:cNvPr id="25" name="Image 4" descr="preencoded.png">    </p:cNvPr>
          <p:cNvPicPr>
            <a:picLocks noChangeAspect="1"/>
          </p:cNvPicPr>
          <p:nvPr/>
        </p:nvPicPr>
        <p:blipFill>
          <a:blip r:embed="rId5"/>
          <a:stretch>
            <a:fillRect/>
          </a:stretch>
        </p:blipFill>
        <p:spPr>
          <a:xfrm>
            <a:off x="6297930" y="3728466"/>
            <a:ext cx="251460" cy="251460"/>
          </a:xfrm>
          <a:prstGeom prst="rect">
            <a:avLst/>
          </a:prstGeom>
        </p:spPr>
      </p:pic>
      <p:sp>
        <p:nvSpPr>
          <p:cNvPr id="26" name="Text 19"/>
          <p:cNvSpPr txBox="1"/>
          <p:nvPr/>
        </p:nvSpPr>
        <p:spPr>
          <a:xfrm>
            <a:off x="6858000" y="3557016"/>
            <a:ext cx="1828800" cy="320040"/>
          </a:xfrm>
          <a:prstGeom prst="rect">
            <a:avLst/>
          </a:prstGeom>
          <a:noFill/>
          <a:ln/>
        </p:spPr>
        <p:txBody>
          <a:bodyPr wrap="square" lIns="0" tIns="0" rIns="0" bIns="0" rtlCol="0" anchor="ctr"/>
          <a:lstStyle/>
          <a:p>
            <a:pPr indent="0" marL="0">
              <a:buNone/>
            </a:pPr>
            <a:r>
              <a:rPr lang="en-US" sz="1500" b="1" dirty="0">
                <a:solidFill>
                  <a:srgbClr val="1A1C25"/>
                </a:solidFill>
                <a:latin typeface="Arial" pitchFamily="34" charset="0"/>
                <a:ea typeface="Arial" pitchFamily="34" charset="-122"/>
                <a:cs typeface="Arial" pitchFamily="34" charset="-120"/>
              </a:rPr>
              <a:t>Anonymisiert</a:t>
            </a:r>
            <a:endParaRPr lang="en-US" sz="1500" dirty="0"/>
          </a:p>
        </p:txBody>
      </p:sp>
      <p:sp>
        <p:nvSpPr>
          <p:cNvPr id="27" name="Text 20"/>
          <p:cNvSpPr txBox="1"/>
          <p:nvPr/>
        </p:nvSpPr>
        <p:spPr>
          <a:xfrm>
            <a:off x="6858000" y="3886200"/>
            <a:ext cx="1828800" cy="502920"/>
          </a:xfrm>
          <a:prstGeom prst="rect">
            <a:avLst/>
          </a:prstGeom>
          <a:noFill/>
          <a:ln/>
        </p:spPr>
        <p:txBody>
          <a:bodyPr wrap="square" lIns="0" tIns="0" rIns="0" bIns="0" rtlCol="0" anchor="t"/>
          <a:lstStyle/>
          <a:p>
            <a:pPr indent="0" marL="0">
              <a:buNone/>
            </a:pPr>
            <a:r>
              <a:rPr lang="en-US" sz="1100" dirty="0">
                <a:solidFill>
                  <a:srgbClr val="646A7C"/>
                </a:solidFill>
                <a:latin typeface="Calibri" pitchFamily="34" charset="0"/>
                <a:ea typeface="Calibri" pitchFamily="34" charset="-122"/>
                <a:cs typeface="Calibri" pitchFamily="34" charset="-120"/>
              </a:rPr>
              <a:t>aufgezeichnet mit Einverständnis &amp; transkribiert</a:t>
            </a:r>
            <a:endParaRPr lang="en-US" sz="1100" dirty="0"/>
          </a:p>
        </p:txBody>
      </p:sp>
      <p:sp>
        <p:nvSpPr>
          <p:cNvPr id="28" name="Text 21"/>
          <p:cNvSpPr txBox="1"/>
          <p:nvPr/>
        </p:nvSpPr>
        <p:spPr>
          <a:xfrm>
            <a:off x="457200" y="4773168"/>
            <a:ext cx="5486400" cy="228600"/>
          </a:xfrm>
          <a:prstGeom prst="rect">
            <a:avLst/>
          </a:prstGeom>
          <a:noFill/>
          <a:ln/>
        </p:spPr>
        <p:txBody>
          <a:bodyPr wrap="square" lIns="0" tIns="0" rIns="0" bIns="0" rtlCol="0" anchor="ctr"/>
          <a:lstStyle/>
          <a:p>
            <a:pPr indent="0" marL="0">
              <a:buNone/>
            </a:pPr>
            <a:r>
              <a:rPr lang="en-US" sz="850" dirty="0">
                <a:solidFill>
                  <a:srgbClr val="646A7C"/>
                </a:solidFill>
                <a:latin typeface="Calibri" pitchFamily="34" charset="0"/>
                <a:ea typeface="Calibri" pitchFamily="34" charset="-122"/>
                <a:cs typeface="Calibri" pitchFamily="34" charset="-120"/>
              </a:rPr>
              <a:t>Qualitative Methoden  ·  Arslan, Mansen, Schims, Stock</a:t>
            </a:r>
            <a:endParaRPr lang="en-US" sz="850" dirty="0"/>
          </a:p>
        </p:txBody>
      </p:sp>
      <p:sp>
        <p:nvSpPr>
          <p:cNvPr id="29" name="Text 22"/>
          <p:cNvSpPr txBox="1"/>
          <p:nvPr/>
        </p:nvSpPr>
        <p:spPr>
          <a:xfrm>
            <a:off x="7315200" y="4773168"/>
            <a:ext cx="1371600" cy="228600"/>
          </a:xfrm>
          <a:prstGeom prst="rect">
            <a:avLst/>
          </a:prstGeom>
          <a:noFill/>
          <a:ln/>
        </p:spPr>
        <p:txBody>
          <a:bodyPr wrap="square" lIns="0" tIns="0" rIns="0" bIns="0" rtlCol="0" anchor="ctr"/>
          <a:lstStyle/>
          <a:p>
            <a:pPr algn="r" indent="0" marL="0">
              <a:buNone/>
            </a:pPr>
            <a:r>
              <a:rPr lang="en-US" sz="850" dirty="0">
                <a:solidFill>
                  <a:srgbClr val="646A7C"/>
                </a:solidFill>
                <a:latin typeface="Calibri" pitchFamily="34" charset="0"/>
                <a:ea typeface="Calibri" pitchFamily="34" charset="-122"/>
                <a:cs typeface="Calibri" pitchFamily="34" charset="-120"/>
              </a:rPr>
              <a:t>04 / 11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900" b="1" spc="300" kern="0" dirty="0">
                <a:solidFill>
                  <a:srgbClr val="E8553B"/>
                </a:solidFill>
                <a:latin typeface="Arial" pitchFamily="34" charset="0"/>
                <a:ea typeface="Arial" pitchFamily="34" charset="-122"/>
                <a:cs typeface="Arial" pitchFamily="34" charset="-120"/>
              </a:rPr>
              <a:t>02  —  INTERVIEWLEITFADEN</a:t>
            </a:r>
            <a:endParaRPr lang="en-US" sz="900" dirty="0"/>
          </a:p>
        </p:txBody>
      </p:sp>
      <p:sp>
        <p:nvSpPr>
          <p:cNvPr id="3" name="Text 1"/>
          <p:cNvSpPr txBox="1"/>
          <p:nvPr/>
        </p:nvSpPr>
        <p:spPr>
          <a:xfrm>
            <a:off x="457200" y="621792"/>
            <a:ext cx="8229600" cy="685800"/>
          </a:xfrm>
          <a:prstGeom prst="rect">
            <a:avLst/>
          </a:prstGeom>
          <a:noFill/>
          <a:ln/>
        </p:spPr>
        <p:txBody>
          <a:bodyPr wrap="square" lIns="0" tIns="0" rIns="0" bIns="0" rtlCol="0" anchor="t"/>
          <a:lstStyle/>
          <a:p>
            <a:pPr indent="0" marL="0">
              <a:buNone/>
            </a:pPr>
            <a:r>
              <a:rPr lang="en-US" sz="2800" b="1" dirty="0">
                <a:solidFill>
                  <a:srgbClr val="1A1C25"/>
                </a:solidFill>
                <a:latin typeface="Arial" pitchFamily="34" charset="0"/>
                <a:ea typeface="Arial" pitchFamily="34" charset="-122"/>
                <a:cs typeface="Arial" pitchFamily="34" charset="-120"/>
              </a:rPr>
              <a:t>Schrittweise Annäherung statt direkter Frage</a:t>
            </a:r>
            <a:endParaRPr lang="en-US" sz="2800" dirty="0"/>
          </a:p>
        </p:txBody>
      </p:sp>
      <p:sp>
        <p:nvSpPr>
          <p:cNvPr id="4" name="Shape 2"/>
          <p:cNvSpPr/>
          <p:nvPr/>
        </p:nvSpPr>
        <p:spPr>
          <a:xfrm>
            <a:off x="731520" y="1965960"/>
            <a:ext cx="7680960" cy="0"/>
          </a:xfrm>
          <a:prstGeom prst="line">
            <a:avLst/>
          </a:prstGeom>
          <a:noFill/>
          <a:ln w="25400">
            <a:solidFill>
              <a:srgbClr val="DADCE3"/>
            </a:solidFill>
            <a:prstDash val="solid"/>
          </a:ln>
        </p:spPr>
      </p:sp>
      <p:sp>
        <p:nvSpPr>
          <p:cNvPr id="5" name="Shape 3"/>
          <p:cNvSpPr/>
          <p:nvPr/>
        </p:nvSpPr>
        <p:spPr>
          <a:xfrm>
            <a:off x="457200" y="1691640"/>
            <a:ext cx="548640" cy="548640"/>
          </a:xfrm>
          <a:prstGeom prst="ellipse">
            <a:avLst/>
          </a:prstGeom>
          <a:solidFill>
            <a:srgbClr val="FFFFFF"/>
          </a:solidFill>
          <a:ln w="19050">
            <a:solidFill>
              <a:srgbClr val="1A1C25"/>
            </a:solidFill>
            <a:prstDash val="solid"/>
          </a:ln>
        </p:spPr>
      </p:sp>
      <p:sp>
        <p:nvSpPr>
          <p:cNvPr id="6" name="Text 4"/>
          <p:cNvSpPr txBox="1"/>
          <p:nvPr/>
        </p:nvSpPr>
        <p:spPr>
          <a:xfrm>
            <a:off x="457200" y="1691640"/>
            <a:ext cx="548640" cy="548640"/>
          </a:xfrm>
          <a:prstGeom prst="rect">
            <a:avLst/>
          </a:prstGeom>
          <a:noFill/>
          <a:ln/>
        </p:spPr>
        <p:txBody>
          <a:bodyPr wrap="square" lIns="0" tIns="0" rIns="0" bIns="0" rtlCol="0" anchor="ctr"/>
          <a:lstStyle/>
          <a:p>
            <a:pPr algn="ctr" indent="0" marL="0">
              <a:buNone/>
            </a:pPr>
            <a:r>
              <a:rPr lang="en-US" sz="1400" b="1" dirty="0">
                <a:solidFill>
                  <a:srgbClr val="1A1C25"/>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82880" y="2350008"/>
            <a:ext cx="1097280" cy="502920"/>
          </a:xfrm>
          <a:prstGeom prst="rect">
            <a:avLst/>
          </a:prstGeom>
          <a:noFill/>
          <a:ln/>
        </p:spPr>
        <p:txBody>
          <a:bodyPr wrap="square" lIns="0" tIns="0" rIns="0" bIns="0" rtlCol="0" anchor="t"/>
          <a:lstStyle/>
          <a:p>
            <a:pPr algn="ctr" indent="0" marL="0">
              <a:buNone/>
            </a:pPr>
            <a:r>
              <a:rPr lang="en-US" sz="1100" dirty="0">
                <a:solidFill>
                  <a:srgbClr val="1A1C25"/>
                </a:solidFill>
                <a:latin typeface="Calibri" pitchFamily="34" charset="0"/>
                <a:ea typeface="Calibri" pitchFamily="34" charset="-122"/>
                <a:cs typeface="Calibri" pitchFamily="34" charset="-120"/>
              </a:rPr>
              <a:t>Einstieg</a:t>
            </a:r>
            <a:endParaRPr lang="en-US" sz="1100" dirty="0"/>
          </a:p>
        </p:txBody>
      </p:sp>
      <p:sp>
        <p:nvSpPr>
          <p:cNvPr id="8" name="Shape 6"/>
          <p:cNvSpPr/>
          <p:nvPr/>
        </p:nvSpPr>
        <p:spPr>
          <a:xfrm>
            <a:off x="1737360" y="1691640"/>
            <a:ext cx="548640" cy="548640"/>
          </a:xfrm>
          <a:prstGeom prst="ellipse">
            <a:avLst/>
          </a:prstGeom>
          <a:solidFill>
            <a:srgbClr val="FFFFFF"/>
          </a:solidFill>
          <a:ln w="19050">
            <a:solidFill>
              <a:srgbClr val="1A1C25"/>
            </a:solidFill>
            <a:prstDash val="solid"/>
          </a:ln>
        </p:spPr>
      </p:sp>
      <p:sp>
        <p:nvSpPr>
          <p:cNvPr id="9" name="Text 7"/>
          <p:cNvSpPr txBox="1"/>
          <p:nvPr/>
        </p:nvSpPr>
        <p:spPr>
          <a:xfrm>
            <a:off x="1737360" y="1691640"/>
            <a:ext cx="548640" cy="548640"/>
          </a:xfrm>
          <a:prstGeom prst="rect">
            <a:avLst/>
          </a:prstGeom>
          <a:noFill/>
          <a:ln/>
        </p:spPr>
        <p:txBody>
          <a:bodyPr wrap="square" lIns="0" tIns="0" rIns="0" bIns="0" rtlCol="0" anchor="ctr"/>
          <a:lstStyle/>
          <a:p>
            <a:pPr algn="ctr" indent="0" marL="0">
              <a:buNone/>
            </a:pPr>
            <a:r>
              <a:rPr lang="en-US" sz="1400" b="1" dirty="0">
                <a:solidFill>
                  <a:srgbClr val="1A1C25"/>
                </a:solidFill>
                <a:latin typeface="Arial" pitchFamily="34" charset="0"/>
                <a:ea typeface="Arial" pitchFamily="34" charset="-122"/>
                <a:cs typeface="Arial" pitchFamily="34" charset="-120"/>
              </a:rPr>
              <a:t>2</a:t>
            </a:r>
            <a:endParaRPr lang="en-US" sz="1400" dirty="0"/>
          </a:p>
        </p:txBody>
      </p:sp>
      <p:sp>
        <p:nvSpPr>
          <p:cNvPr id="10" name="Text 8"/>
          <p:cNvSpPr txBox="1"/>
          <p:nvPr/>
        </p:nvSpPr>
        <p:spPr>
          <a:xfrm>
            <a:off x="1463040" y="2350008"/>
            <a:ext cx="1097280" cy="502920"/>
          </a:xfrm>
          <a:prstGeom prst="rect">
            <a:avLst/>
          </a:prstGeom>
          <a:noFill/>
          <a:ln/>
        </p:spPr>
        <p:txBody>
          <a:bodyPr wrap="square" lIns="0" tIns="0" rIns="0" bIns="0" rtlCol="0" anchor="t"/>
          <a:lstStyle/>
          <a:p>
            <a:pPr algn="ctr" indent="0" marL="0">
              <a:buNone/>
            </a:pPr>
            <a:r>
              <a:rPr lang="en-US" sz="1100" dirty="0">
                <a:solidFill>
                  <a:srgbClr val="1A1C25"/>
                </a:solidFill>
                <a:latin typeface="Calibri" pitchFamily="34" charset="0"/>
                <a:ea typeface="Calibri" pitchFamily="34" charset="-122"/>
                <a:cs typeface="Calibri" pitchFamily="34" charset="-120"/>
              </a:rPr>
              <a:t>Warm-up</a:t>
            </a:r>
            <a:endParaRPr lang="en-US" sz="1100" dirty="0"/>
          </a:p>
        </p:txBody>
      </p:sp>
      <p:sp>
        <p:nvSpPr>
          <p:cNvPr id="11" name="Shape 9"/>
          <p:cNvSpPr/>
          <p:nvPr/>
        </p:nvSpPr>
        <p:spPr>
          <a:xfrm>
            <a:off x="3017520" y="1691640"/>
            <a:ext cx="548640" cy="548640"/>
          </a:xfrm>
          <a:prstGeom prst="ellipse">
            <a:avLst/>
          </a:prstGeom>
          <a:solidFill>
            <a:srgbClr val="FFFFFF"/>
          </a:solidFill>
          <a:ln w="19050">
            <a:solidFill>
              <a:srgbClr val="1A1C25"/>
            </a:solidFill>
            <a:prstDash val="solid"/>
          </a:ln>
        </p:spPr>
      </p:sp>
      <p:sp>
        <p:nvSpPr>
          <p:cNvPr id="12" name="Text 10"/>
          <p:cNvSpPr txBox="1"/>
          <p:nvPr/>
        </p:nvSpPr>
        <p:spPr>
          <a:xfrm>
            <a:off x="3017520" y="1691640"/>
            <a:ext cx="548640" cy="548640"/>
          </a:xfrm>
          <a:prstGeom prst="rect">
            <a:avLst/>
          </a:prstGeom>
          <a:noFill/>
          <a:ln/>
        </p:spPr>
        <p:txBody>
          <a:bodyPr wrap="square" lIns="0" tIns="0" rIns="0" bIns="0" rtlCol="0" anchor="ctr"/>
          <a:lstStyle/>
          <a:p>
            <a:pPr algn="ctr" indent="0" marL="0">
              <a:buNone/>
            </a:pPr>
            <a:r>
              <a:rPr lang="en-US" sz="1400" b="1" dirty="0">
                <a:solidFill>
                  <a:srgbClr val="1A1C25"/>
                </a:solidFill>
                <a:latin typeface="Arial" pitchFamily="34" charset="0"/>
                <a:ea typeface="Arial" pitchFamily="34" charset="-122"/>
                <a:cs typeface="Arial" pitchFamily="34" charset="-120"/>
              </a:rPr>
              <a:t>3</a:t>
            </a:r>
            <a:endParaRPr lang="en-US" sz="1400" dirty="0"/>
          </a:p>
        </p:txBody>
      </p:sp>
      <p:sp>
        <p:nvSpPr>
          <p:cNvPr id="13" name="Text 11"/>
          <p:cNvSpPr txBox="1"/>
          <p:nvPr/>
        </p:nvSpPr>
        <p:spPr>
          <a:xfrm>
            <a:off x="2743200" y="2350008"/>
            <a:ext cx="1097280" cy="502920"/>
          </a:xfrm>
          <a:prstGeom prst="rect">
            <a:avLst/>
          </a:prstGeom>
          <a:noFill/>
          <a:ln/>
        </p:spPr>
        <p:txBody>
          <a:bodyPr wrap="square" lIns="0" tIns="0" rIns="0" bIns="0" rtlCol="0" anchor="t"/>
          <a:lstStyle/>
          <a:p>
            <a:pPr algn="ctr" indent="0" marL="0">
              <a:buNone/>
            </a:pPr>
            <a:r>
              <a:rPr lang="en-US" sz="1100" dirty="0">
                <a:solidFill>
                  <a:srgbClr val="1A1C25"/>
                </a:solidFill>
                <a:latin typeface="Calibri" pitchFamily="34" charset="0"/>
                <a:ea typeface="Calibri" pitchFamily="34" charset="-122"/>
                <a:cs typeface="Calibri" pitchFamily="34" charset="-120"/>
              </a:rPr>
              <a:t>Biografischer Hintergrund</a:t>
            </a:r>
            <a:endParaRPr lang="en-US" sz="1100" dirty="0"/>
          </a:p>
        </p:txBody>
      </p:sp>
      <p:sp>
        <p:nvSpPr>
          <p:cNvPr id="14" name="Shape 12"/>
          <p:cNvSpPr/>
          <p:nvPr/>
        </p:nvSpPr>
        <p:spPr>
          <a:xfrm>
            <a:off x="4297680" y="1691640"/>
            <a:ext cx="548640" cy="548640"/>
          </a:xfrm>
          <a:prstGeom prst="ellipse">
            <a:avLst/>
          </a:prstGeom>
          <a:solidFill>
            <a:srgbClr val="FFFFFF"/>
          </a:solidFill>
          <a:ln w="19050">
            <a:solidFill>
              <a:srgbClr val="1A1C25"/>
            </a:solidFill>
            <a:prstDash val="solid"/>
          </a:ln>
        </p:spPr>
      </p:sp>
      <p:sp>
        <p:nvSpPr>
          <p:cNvPr id="15" name="Text 13"/>
          <p:cNvSpPr txBox="1"/>
          <p:nvPr/>
        </p:nvSpPr>
        <p:spPr>
          <a:xfrm>
            <a:off x="4297680" y="1691640"/>
            <a:ext cx="548640" cy="548640"/>
          </a:xfrm>
          <a:prstGeom prst="rect">
            <a:avLst/>
          </a:prstGeom>
          <a:noFill/>
          <a:ln/>
        </p:spPr>
        <p:txBody>
          <a:bodyPr wrap="square" lIns="0" tIns="0" rIns="0" bIns="0" rtlCol="0" anchor="ctr"/>
          <a:lstStyle/>
          <a:p>
            <a:pPr algn="ctr" indent="0" marL="0">
              <a:buNone/>
            </a:pPr>
            <a:r>
              <a:rPr lang="en-US" sz="1400" b="1" dirty="0">
                <a:solidFill>
                  <a:srgbClr val="1A1C25"/>
                </a:solidFill>
                <a:latin typeface="Arial" pitchFamily="34" charset="0"/>
                <a:ea typeface="Arial" pitchFamily="34" charset="-122"/>
                <a:cs typeface="Arial" pitchFamily="34" charset="-120"/>
              </a:rPr>
              <a:t>4</a:t>
            </a:r>
            <a:endParaRPr lang="en-US" sz="1400" dirty="0"/>
          </a:p>
        </p:txBody>
      </p:sp>
      <p:sp>
        <p:nvSpPr>
          <p:cNvPr id="16" name="Text 14"/>
          <p:cNvSpPr txBox="1"/>
          <p:nvPr/>
        </p:nvSpPr>
        <p:spPr>
          <a:xfrm>
            <a:off x="4023360" y="2350008"/>
            <a:ext cx="1097280" cy="502920"/>
          </a:xfrm>
          <a:prstGeom prst="rect">
            <a:avLst/>
          </a:prstGeom>
          <a:noFill/>
          <a:ln/>
        </p:spPr>
        <p:txBody>
          <a:bodyPr wrap="square" lIns="0" tIns="0" rIns="0" bIns="0" rtlCol="0" anchor="t"/>
          <a:lstStyle/>
          <a:p>
            <a:pPr algn="ctr" indent="0" marL="0">
              <a:buNone/>
            </a:pPr>
            <a:r>
              <a:rPr lang="en-US" sz="1100" dirty="0">
                <a:solidFill>
                  <a:srgbClr val="1A1C25"/>
                </a:solidFill>
                <a:latin typeface="Calibri" pitchFamily="34" charset="0"/>
                <a:ea typeface="Calibri" pitchFamily="34" charset="-122"/>
                <a:cs typeface="Calibri" pitchFamily="34" charset="-120"/>
              </a:rPr>
              <a:t>Leistungs-</a:t>
            </a:r>
            <a:endParaRPr lang="en-US" sz="1100" dirty="0"/>
          </a:p>
          <a:p>
            <a:pPr algn="ctr" indent="0" marL="0">
              <a:buNone/>
            </a:pPr>
            <a:r>
              <a:rPr lang="en-US" sz="1100" dirty="0">
                <a:solidFill>
                  <a:srgbClr val="1A1C25"/>
                </a:solidFill>
                <a:latin typeface="Calibri" pitchFamily="34" charset="0"/>
                <a:ea typeface="Calibri" pitchFamily="34" charset="-122"/>
                <a:cs typeface="Calibri" pitchFamily="34" charset="-120"/>
              </a:rPr>
              <a:t>erfahrungen</a:t>
            </a:r>
            <a:endParaRPr lang="en-US" sz="1100" dirty="0"/>
          </a:p>
        </p:txBody>
      </p:sp>
      <p:sp>
        <p:nvSpPr>
          <p:cNvPr id="17" name="Shape 15"/>
          <p:cNvSpPr/>
          <p:nvPr/>
        </p:nvSpPr>
        <p:spPr>
          <a:xfrm>
            <a:off x="5577840" y="1691640"/>
            <a:ext cx="548640" cy="548640"/>
          </a:xfrm>
          <a:prstGeom prst="ellipse">
            <a:avLst/>
          </a:prstGeom>
          <a:solidFill>
            <a:srgbClr val="E8553B"/>
          </a:solidFill>
          <a:ln w="19050">
            <a:solidFill>
              <a:srgbClr val="E8553B"/>
            </a:solidFill>
            <a:prstDash val="solid"/>
          </a:ln>
        </p:spPr>
      </p:sp>
      <p:sp>
        <p:nvSpPr>
          <p:cNvPr id="18" name="Text 16"/>
          <p:cNvSpPr txBox="1"/>
          <p:nvPr/>
        </p:nvSpPr>
        <p:spPr>
          <a:xfrm>
            <a:off x="5577840" y="169164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19" name="Text 17"/>
          <p:cNvSpPr txBox="1"/>
          <p:nvPr/>
        </p:nvSpPr>
        <p:spPr>
          <a:xfrm>
            <a:off x="5303520" y="2350008"/>
            <a:ext cx="1097280" cy="502920"/>
          </a:xfrm>
          <a:prstGeom prst="rect">
            <a:avLst/>
          </a:prstGeom>
          <a:noFill/>
          <a:ln/>
        </p:spPr>
        <p:txBody>
          <a:bodyPr wrap="square" lIns="0" tIns="0" rIns="0" bIns="0" rtlCol="0" anchor="t"/>
          <a:lstStyle/>
          <a:p>
            <a:pPr algn="ctr" indent="0" marL="0">
              <a:buNone/>
            </a:pPr>
            <a:r>
              <a:rPr lang="en-US" sz="1100" b="1" dirty="0">
                <a:solidFill>
                  <a:srgbClr val="E8553B"/>
                </a:solidFill>
                <a:latin typeface="Calibri" pitchFamily="34" charset="0"/>
                <a:ea typeface="Calibri" pitchFamily="34" charset="-122"/>
                <a:cs typeface="Calibri" pitchFamily="34" charset="-120"/>
              </a:rPr>
              <a:t>Konkurrenz-wahrnehmung</a:t>
            </a:r>
            <a:endParaRPr lang="en-US" sz="1100" dirty="0"/>
          </a:p>
        </p:txBody>
      </p:sp>
      <p:sp>
        <p:nvSpPr>
          <p:cNvPr id="20" name="Shape 18"/>
          <p:cNvSpPr/>
          <p:nvPr/>
        </p:nvSpPr>
        <p:spPr>
          <a:xfrm>
            <a:off x="6858000" y="1691640"/>
            <a:ext cx="548640" cy="548640"/>
          </a:xfrm>
          <a:prstGeom prst="ellipse">
            <a:avLst/>
          </a:prstGeom>
          <a:solidFill>
            <a:srgbClr val="FFFFFF"/>
          </a:solidFill>
          <a:ln w="19050">
            <a:solidFill>
              <a:srgbClr val="1A1C25"/>
            </a:solidFill>
            <a:prstDash val="solid"/>
          </a:ln>
        </p:spPr>
      </p:sp>
      <p:sp>
        <p:nvSpPr>
          <p:cNvPr id="21" name="Text 19"/>
          <p:cNvSpPr txBox="1"/>
          <p:nvPr/>
        </p:nvSpPr>
        <p:spPr>
          <a:xfrm>
            <a:off x="6858000" y="1691640"/>
            <a:ext cx="548640" cy="548640"/>
          </a:xfrm>
          <a:prstGeom prst="rect">
            <a:avLst/>
          </a:prstGeom>
          <a:noFill/>
          <a:ln/>
        </p:spPr>
        <p:txBody>
          <a:bodyPr wrap="square" lIns="0" tIns="0" rIns="0" bIns="0" rtlCol="0" anchor="ctr"/>
          <a:lstStyle/>
          <a:p>
            <a:pPr algn="ctr" indent="0" marL="0">
              <a:buNone/>
            </a:pPr>
            <a:r>
              <a:rPr lang="en-US" sz="1400" b="1" dirty="0">
                <a:solidFill>
                  <a:srgbClr val="1A1C25"/>
                </a:solidFill>
                <a:latin typeface="Arial" pitchFamily="34" charset="0"/>
                <a:ea typeface="Arial" pitchFamily="34" charset="-122"/>
                <a:cs typeface="Arial" pitchFamily="34" charset="-120"/>
              </a:rPr>
              <a:t>6</a:t>
            </a:r>
            <a:endParaRPr lang="en-US" sz="1400" dirty="0"/>
          </a:p>
        </p:txBody>
      </p:sp>
      <p:sp>
        <p:nvSpPr>
          <p:cNvPr id="22" name="Text 20"/>
          <p:cNvSpPr txBox="1"/>
          <p:nvPr/>
        </p:nvSpPr>
        <p:spPr>
          <a:xfrm>
            <a:off x="6583680" y="2350008"/>
            <a:ext cx="1097280" cy="502920"/>
          </a:xfrm>
          <a:prstGeom prst="rect">
            <a:avLst/>
          </a:prstGeom>
          <a:noFill/>
          <a:ln/>
        </p:spPr>
        <p:txBody>
          <a:bodyPr wrap="square" lIns="0" tIns="0" rIns="0" bIns="0" rtlCol="0" anchor="t"/>
          <a:lstStyle/>
          <a:p>
            <a:pPr algn="ctr" indent="0" marL="0">
              <a:buNone/>
            </a:pPr>
            <a:r>
              <a:rPr lang="en-US" sz="1100" dirty="0">
                <a:solidFill>
                  <a:srgbClr val="1A1C25"/>
                </a:solidFill>
                <a:latin typeface="Calibri" pitchFamily="34" charset="0"/>
                <a:ea typeface="Calibri" pitchFamily="34" charset="-122"/>
                <a:cs typeface="Calibri" pitchFamily="34" charset="-120"/>
              </a:rPr>
              <a:t>Persönliche Reflexion</a:t>
            </a:r>
            <a:endParaRPr lang="en-US" sz="1100" dirty="0"/>
          </a:p>
        </p:txBody>
      </p:sp>
      <p:sp>
        <p:nvSpPr>
          <p:cNvPr id="23" name="Shape 21"/>
          <p:cNvSpPr/>
          <p:nvPr/>
        </p:nvSpPr>
        <p:spPr>
          <a:xfrm>
            <a:off x="8138160" y="1691640"/>
            <a:ext cx="548640" cy="548640"/>
          </a:xfrm>
          <a:prstGeom prst="ellipse">
            <a:avLst/>
          </a:prstGeom>
          <a:solidFill>
            <a:srgbClr val="FFFFFF"/>
          </a:solidFill>
          <a:ln w="19050">
            <a:solidFill>
              <a:srgbClr val="1A1C25"/>
            </a:solidFill>
            <a:prstDash val="solid"/>
          </a:ln>
        </p:spPr>
      </p:sp>
      <p:sp>
        <p:nvSpPr>
          <p:cNvPr id="24" name="Text 22"/>
          <p:cNvSpPr txBox="1"/>
          <p:nvPr/>
        </p:nvSpPr>
        <p:spPr>
          <a:xfrm>
            <a:off x="8138160" y="1691640"/>
            <a:ext cx="548640" cy="548640"/>
          </a:xfrm>
          <a:prstGeom prst="rect">
            <a:avLst/>
          </a:prstGeom>
          <a:noFill/>
          <a:ln/>
        </p:spPr>
        <p:txBody>
          <a:bodyPr wrap="square" lIns="0" tIns="0" rIns="0" bIns="0" rtlCol="0" anchor="ctr"/>
          <a:lstStyle/>
          <a:p>
            <a:pPr algn="ctr" indent="0" marL="0">
              <a:buNone/>
            </a:pPr>
            <a:r>
              <a:rPr lang="en-US" sz="1400" b="1" dirty="0">
                <a:solidFill>
                  <a:srgbClr val="1A1C25"/>
                </a:solidFill>
                <a:latin typeface="Arial" pitchFamily="34" charset="0"/>
                <a:ea typeface="Arial" pitchFamily="34" charset="-122"/>
                <a:cs typeface="Arial" pitchFamily="34" charset="-120"/>
              </a:rPr>
              <a:t>7</a:t>
            </a:r>
            <a:endParaRPr lang="en-US" sz="1400" dirty="0"/>
          </a:p>
        </p:txBody>
      </p:sp>
      <p:sp>
        <p:nvSpPr>
          <p:cNvPr id="25" name="Text 23"/>
          <p:cNvSpPr txBox="1"/>
          <p:nvPr/>
        </p:nvSpPr>
        <p:spPr>
          <a:xfrm>
            <a:off x="7863840" y="2350008"/>
            <a:ext cx="1097280" cy="502920"/>
          </a:xfrm>
          <a:prstGeom prst="rect">
            <a:avLst/>
          </a:prstGeom>
          <a:noFill/>
          <a:ln/>
        </p:spPr>
        <p:txBody>
          <a:bodyPr wrap="square" lIns="0" tIns="0" rIns="0" bIns="0" rtlCol="0" anchor="t"/>
          <a:lstStyle/>
          <a:p>
            <a:pPr algn="ctr" indent="0" marL="0">
              <a:buNone/>
            </a:pPr>
            <a:r>
              <a:rPr lang="en-US" sz="1100" dirty="0">
                <a:solidFill>
                  <a:srgbClr val="1A1C25"/>
                </a:solidFill>
                <a:latin typeface="Calibri" pitchFamily="34" charset="0"/>
                <a:ea typeface="Calibri" pitchFamily="34" charset="-122"/>
                <a:cs typeface="Calibri" pitchFamily="34" charset="-120"/>
              </a:rPr>
              <a:t>Abschluss</a:t>
            </a:r>
            <a:endParaRPr lang="en-US" sz="1100" dirty="0"/>
          </a:p>
        </p:txBody>
      </p:sp>
      <p:sp>
        <p:nvSpPr>
          <p:cNvPr id="26" name="Shape 24"/>
          <p:cNvSpPr/>
          <p:nvPr/>
        </p:nvSpPr>
        <p:spPr>
          <a:xfrm>
            <a:off x="457200" y="3063240"/>
            <a:ext cx="3931920" cy="1463040"/>
          </a:xfrm>
          <a:prstGeom prst="roundRect">
            <a:avLst>
              <a:gd name="adj" fmla="val 5000"/>
            </a:avLst>
          </a:prstGeom>
          <a:solidFill>
            <a:srgbClr val="14161F"/>
          </a:solidFill>
          <a:ln w="12700">
            <a:solidFill>
              <a:srgbClr val="14161F"/>
            </a:solidFill>
            <a:prstDash val="solid"/>
          </a:ln>
        </p:spPr>
      </p:sp>
      <p:sp>
        <p:nvSpPr>
          <p:cNvPr id="27" name="Text 25"/>
          <p:cNvSpPr txBox="1"/>
          <p:nvPr/>
        </p:nvSpPr>
        <p:spPr>
          <a:xfrm>
            <a:off x="685800" y="3246120"/>
            <a:ext cx="3474720" cy="274320"/>
          </a:xfrm>
          <a:prstGeom prst="rect">
            <a:avLst/>
          </a:prstGeom>
          <a:noFill/>
          <a:ln/>
        </p:spPr>
        <p:txBody>
          <a:bodyPr wrap="square" lIns="0" tIns="0" rIns="0" bIns="0" rtlCol="0" anchor="ctr"/>
          <a:lstStyle/>
          <a:p>
            <a:pPr indent="0" marL="0">
              <a:buNone/>
            </a:pPr>
            <a:r>
              <a:rPr lang="en-US" sz="900" b="1" spc="200" kern="0" dirty="0">
                <a:solidFill>
                  <a:srgbClr val="E8553B"/>
                </a:solidFill>
                <a:latin typeface="Arial" pitchFamily="34" charset="0"/>
                <a:ea typeface="Arial" pitchFamily="34" charset="-122"/>
                <a:cs typeface="Arial" pitchFamily="34" charset="-120"/>
              </a:rPr>
              <a:t>Prinzip</a:t>
            </a:r>
            <a:endParaRPr lang="en-US" sz="900" dirty="0"/>
          </a:p>
        </p:txBody>
      </p:sp>
      <p:sp>
        <p:nvSpPr>
          <p:cNvPr id="28" name="Text 26"/>
          <p:cNvSpPr txBox="1"/>
          <p:nvPr/>
        </p:nvSpPr>
        <p:spPr>
          <a:xfrm>
            <a:off x="685800" y="3520440"/>
            <a:ext cx="3520440" cy="91440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Die Forschungsfrage wird nie direkt gestellt. Offene Erzählfragen lassen Erfahrungen und Deutungen der Befragten im Mittelpunkt stehen.</a:t>
            </a:r>
            <a:endParaRPr lang="en-US" sz="1250" dirty="0"/>
          </a:p>
        </p:txBody>
      </p:sp>
      <p:sp>
        <p:nvSpPr>
          <p:cNvPr id="29" name="Shape 27"/>
          <p:cNvSpPr/>
          <p:nvPr/>
        </p:nvSpPr>
        <p:spPr>
          <a:xfrm>
            <a:off x="4663440" y="3063240"/>
            <a:ext cx="4023360" cy="658368"/>
          </a:xfrm>
          <a:prstGeom prst="roundRect">
            <a:avLst>
              <a:gd name="adj" fmla="val 11111"/>
            </a:avLst>
          </a:prstGeom>
          <a:solidFill>
            <a:srgbClr val="F2F3F6"/>
          </a:solidFill>
          <a:ln w="12700">
            <a:solidFill>
              <a:srgbClr val="F2F3F6"/>
            </a:solidFill>
            <a:prstDash val="solid"/>
          </a:ln>
        </p:spPr>
      </p:sp>
      <p:sp>
        <p:nvSpPr>
          <p:cNvPr id="30" name="Shape 28"/>
          <p:cNvSpPr/>
          <p:nvPr/>
        </p:nvSpPr>
        <p:spPr>
          <a:xfrm>
            <a:off x="4800600" y="3191256"/>
            <a:ext cx="402336" cy="402336"/>
          </a:xfrm>
          <a:prstGeom prst="ellipse">
            <a:avLst/>
          </a:prstGeom>
          <a:solidFill>
            <a:srgbClr val="FCE6E0"/>
          </a:solidFill>
          <a:ln w="12700">
            <a:solidFill>
              <a:srgbClr val="FCE6E0"/>
            </a:solidFill>
            <a:prstDash val="solid"/>
          </a:ln>
        </p:spPr>
      </p:sp>
      <p:pic>
        <p:nvPicPr>
          <p:cNvPr id="31" name="Image 0" descr="preencoded.png">    </p:cNvPr>
          <p:cNvPicPr>
            <a:picLocks noChangeAspect="1"/>
          </p:cNvPicPr>
          <p:nvPr/>
        </p:nvPicPr>
        <p:blipFill>
          <a:blip r:embed="rId1"/>
          <a:stretch>
            <a:fillRect/>
          </a:stretch>
        </p:blipFill>
        <p:spPr>
          <a:xfrm>
            <a:off x="4901184" y="3291840"/>
            <a:ext cx="201168" cy="201168"/>
          </a:xfrm>
          <a:prstGeom prst="rect">
            <a:avLst/>
          </a:prstGeom>
        </p:spPr>
      </p:pic>
      <p:sp>
        <p:nvSpPr>
          <p:cNvPr id="32" name="Text 29"/>
          <p:cNvSpPr txBox="1"/>
          <p:nvPr/>
        </p:nvSpPr>
        <p:spPr>
          <a:xfrm>
            <a:off x="5349240" y="3063240"/>
            <a:ext cx="3200400" cy="658368"/>
          </a:xfrm>
          <a:prstGeom prst="rect">
            <a:avLst/>
          </a:prstGeom>
          <a:noFill/>
          <a:ln/>
        </p:spPr>
        <p:txBody>
          <a:bodyPr wrap="square" lIns="0" tIns="0" rIns="0" bIns="0" rtlCol="0" anchor="ctr"/>
          <a:lstStyle/>
          <a:p>
            <a:pPr indent="0" marL="0">
              <a:buNone/>
            </a:pPr>
            <a:r>
              <a:rPr lang="en-US" sz="1300" i="1" dirty="0">
                <a:solidFill>
                  <a:srgbClr val="1A1C25"/>
                </a:solidFill>
                <a:latin typeface="Calibri" pitchFamily="34" charset="0"/>
                <a:ea typeface="Calibri" pitchFamily="34" charset="-122"/>
                <a:cs typeface="Calibri" pitchFamily="34" charset="-120"/>
              </a:rPr>
              <a:t>„Kannst du dafür ein Beispiel nennen?“</a:t>
            </a:r>
            <a:endParaRPr lang="en-US" sz="1300" dirty="0"/>
          </a:p>
        </p:txBody>
      </p:sp>
      <p:sp>
        <p:nvSpPr>
          <p:cNvPr id="33" name="Shape 30"/>
          <p:cNvSpPr/>
          <p:nvPr/>
        </p:nvSpPr>
        <p:spPr>
          <a:xfrm>
            <a:off x="4663440" y="3840480"/>
            <a:ext cx="4023360" cy="658368"/>
          </a:xfrm>
          <a:prstGeom prst="roundRect">
            <a:avLst>
              <a:gd name="adj" fmla="val 11111"/>
            </a:avLst>
          </a:prstGeom>
          <a:solidFill>
            <a:srgbClr val="F2F3F6"/>
          </a:solidFill>
          <a:ln w="12700">
            <a:solidFill>
              <a:srgbClr val="F2F3F6"/>
            </a:solidFill>
            <a:prstDash val="solid"/>
          </a:ln>
        </p:spPr>
      </p:sp>
      <p:sp>
        <p:nvSpPr>
          <p:cNvPr id="34" name="Shape 31"/>
          <p:cNvSpPr/>
          <p:nvPr/>
        </p:nvSpPr>
        <p:spPr>
          <a:xfrm>
            <a:off x="4800600" y="3968496"/>
            <a:ext cx="402336" cy="402336"/>
          </a:xfrm>
          <a:prstGeom prst="ellipse">
            <a:avLst/>
          </a:prstGeom>
          <a:solidFill>
            <a:srgbClr val="FCE6E0"/>
          </a:solidFill>
          <a:ln w="12700">
            <a:solidFill>
              <a:srgbClr val="FCE6E0"/>
            </a:solidFill>
            <a:prstDash val="solid"/>
          </a:ln>
        </p:spPr>
      </p:sp>
      <p:pic>
        <p:nvPicPr>
          <p:cNvPr id="35" name="Image 1" descr="preencoded.png">    </p:cNvPr>
          <p:cNvPicPr>
            <a:picLocks noChangeAspect="1"/>
          </p:cNvPicPr>
          <p:nvPr/>
        </p:nvPicPr>
        <p:blipFill>
          <a:blip r:embed="rId2"/>
          <a:stretch>
            <a:fillRect/>
          </a:stretch>
        </p:blipFill>
        <p:spPr>
          <a:xfrm>
            <a:off x="4901184" y="4069080"/>
            <a:ext cx="201168" cy="201168"/>
          </a:xfrm>
          <a:prstGeom prst="rect">
            <a:avLst/>
          </a:prstGeom>
        </p:spPr>
      </p:pic>
      <p:sp>
        <p:nvSpPr>
          <p:cNvPr id="36" name="Text 32"/>
          <p:cNvSpPr txBox="1"/>
          <p:nvPr/>
        </p:nvSpPr>
        <p:spPr>
          <a:xfrm>
            <a:off x="5349240" y="3840480"/>
            <a:ext cx="3200400" cy="658368"/>
          </a:xfrm>
          <a:prstGeom prst="rect">
            <a:avLst/>
          </a:prstGeom>
          <a:noFill/>
          <a:ln/>
        </p:spPr>
        <p:txBody>
          <a:bodyPr wrap="square" lIns="0" tIns="0" rIns="0" bIns="0" rtlCol="0" anchor="ctr"/>
          <a:lstStyle/>
          <a:p>
            <a:pPr indent="0" marL="0">
              <a:buNone/>
            </a:pPr>
            <a:r>
              <a:rPr lang="en-US" sz="1300" i="1" dirty="0">
                <a:solidFill>
                  <a:srgbClr val="1A1C25"/>
                </a:solidFill>
                <a:latin typeface="Calibri" pitchFamily="34" charset="0"/>
                <a:ea typeface="Calibri" pitchFamily="34" charset="-122"/>
                <a:cs typeface="Calibri" pitchFamily="34" charset="-120"/>
              </a:rPr>
              <a:t>„Wie hast du dich dabei gefühlt?“</a:t>
            </a:r>
            <a:endParaRPr lang="en-US" sz="1300" dirty="0"/>
          </a:p>
        </p:txBody>
      </p:sp>
      <p:sp>
        <p:nvSpPr>
          <p:cNvPr id="37" name="Text 33"/>
          <p:cNvSpPr txBox="1"/>
          <p:nvPr/>
        </p:nvSpPr>
        <p:spPr>
          <a:xfrm>
            <a:off x="457200" y="4773168"/>
            <a:ext cx="5486400" cy="228600"/>
          </a:xfrm>
          <a:prstGeom prst="rect">
            <a:avLst/>
          </a:prstGeom>
          <a:noFill/>
          <a:ln/>
        </p:spPr>
        <p:txBody>
          <a:bodyPr wrap="square" lIns="0" tIns="0" rIns="0" bIns="0" rtlCol="0" anchor="ctr"/>
          <a:lstStyle/>
          <a:p>
            <a:pPr indent="0" marL="0">
              <a:buNone/>
            </a:pPr>
            <a:r>
              <a:rPr lang="en-US" sz="850" dirty="0">
                <a:solidFill>
                  <a:srgbClr val="646A7C"/>
                </a:solidFill>
                <a:latin typeface="Calibri" pitchFamily="34" charset="0"/>
                <a:ea typeface="Calibri" pitchFamily="34" charset="-122"/>
                <a:cs typeface="Calibri" pitchFamily="34" charset="-120"/>
              </a:rPr>
              <a:t>Qualitative Methoden  ·  Arslan, Mansen, Schims, Stock</a:t>
            </a:r>
            <a:endParaRPr lang="en-US" sz="850" dirty="0"/>
          </a:p>
        </p:txBody>
      </p:sp>
      <p:sp>
        <p:nvSpPr>
          <p:cNvPr id="38" name="Text 34"/>
          <p:cNvSpPr txBox="1"/>
          <p:nvPr/>
        </p:nvSpPr>
        <p:spPr>
          <a:xfrm>
            <a:off x="7315200" y="4773168"/>
            <a:ext cx="1371600" cy="228600"/>
          </a:xfrm>
          <a:prstGeom prst="rect">
            <a:avLst/>
          </a:prstGeom>
          <a:noFill/>
          <a:ln/>
        </p:spPr>
        <p:txBody>
          <a:bodyPr wrap="square" lIns="0" tIns="0" rIns="0" bIns="0" rtlCol="0" anchor="ctr"/>
          <a:lstStyle/>
          <a:p>
            <a:pPr algn="r" indent="0" marL="0">
              <a:buNone/>
            </a:pPr>
            <a:r>
              <a:rPr lang="en-US" sz="850" dirty="0">
                <a:solidFill>
                  <a:srgbClr val="646A7C"/>
                </a:solidFill>
                <a:latin typeface="Calibri" pitchFamily="34" charset="0"/>
                <a:ea typeface="Calibri" pitchFamily="34" charset="-122"/>
                <a:cs typeface="Calibri" pitchFamily="34" charset="-120"/>
              </a:rPr>
              <a:t>05 / 11</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900" b="1" spc="300" kern="0" dirty="0">
                <a:solidFill>
                  <a:srgbClr val="E8553B"/>
                </a:solidFill>
                <a:latin typeface="Arial" pitchFamily="34" charset="0"/>
                <a:ea typeface="Arial" pitchFamily="34" charset="-122"/>
                <a:cs typeface="Arial" pitchFamily="34" charset="-120"/>
              </a:rPr>
              <a:t>03  —  SAMPLING</a:t>
            </a:r>
            <a:endParaRPr lang="en-US" sz="900" dirty="0"/>
          </a:p>
        </p:txBody>
      </p:sp>
      <p:sp>
        <p:nvSpPr>
          <p:cNvPr id="3" name="Text 1"/>
          <p:cNvSpPr txBox="1"/>
          <p:nvPr/>
        </p:nvSpPr>
        <p:spPr>
          <a:xfrm>
            <a:off x="457200" y="621792"/>
            <a:ext cx="8229600" cy="685800"/>
          </a:xfrm>
          <a:prstGeom prst="rect">
            <a:avLst/>
          </a:prstGeom>
          <a:noFill/>
          <a:ln/>
        </p:spPr>
        <p:txBody>
          <a:bodyPr wrap="square" lIns="0" tIns="0" rIns="0" bIns="0" rtlCol="0" anchor="t"/>
          <a:lstStyle/>
          <a:p>
            <a:pPr indent="0" marL="0">
              <a:buNone/>
            </a:pPr>
            <a:r>
              <a:rPr lang="en-US" sz="2800" b="1" dirty="0">
                <a:solidFill>
                  <a:srgbClr val="1A1C25"/>
                </a:solidFill>
                <a:latin typeface="Arial" pitchFamily="34" charset="0"/>
                <a:ea typeface="Arial" pitchFamily="34" charset="-122"/>
                <a:cs typeface="Arial" pitchFamily="34" charset="-120"/>
              </a:rPr>
              <a:t>Kleine Stichprobe, bewusst heterogen</a:t>
            </a:r>
            <a:endParaRPr lang="en-US" sz="2800" dirty="0"/>
          </a:p>
        </p:txBody>
      </p:sp>
      <p:sp>
        <p:nvSpPr>
          <p:cNvPr id="4" name="Shape 2"/>
          <p:cNvSpPr/>
          <p:nvPr/>
        </p:nvSpPr>
        <p:spPr>
          <a:xfrm>
            <a:off x="457200" y="1508760"/>
            <a:ext cx="2926080" cy="3017520"/>
          </a:xfrm>
          <a:prstGeom prst="roundRect">
            <a:avLst>
              <a:gd name="adj" fmla="val 2500"/>
            </a:avLst>
          </a:prstGeom>
          <a:solidFill>
            <a:srgbClr val="E8553B"/>
          </a:solidFill>
          <a:ln w="12700">
            <a:solidFill>
              <a:srgbClr val="E8553B"/>
            </a:solidFill>
            <a:prstDash val="solid"/>
          </a:ln>
        </p:spPr>
      </p:sp>
      <p:sp>
        <p:nvSpPr>
          <p:cNvPr id="5" name="Text 3"/>
          <p:cNvSpPr txBox="1"/>
          <p:nvPr/>
        </p:nvSpPr>
        <p:spPr>
          <a:xfrm>
            <a:off x="685800" y="1600200"/>
            <a:ext cx="2468880" cy="1737360"/>
          </a:xfrm>
          <a:prstGeom prst="rect">
            <a:avLst/>
          </a:prstGeom>
          <a:noFill/>
          <a:ln/>
        </p:spPr>
        <p:txBody>
          <a:bodyPr wrap="square" lIns="0" tIns="0" rIns="0" bIns="0" rtlCol="0" anchor="ctr"/>
          <a:lstStyle/>
          <a:p>
            <a:pPr indent="0" marL="0">
              <a:buNone/>
            </a:pPr>
            <a:r>
              <a:rPr lang="en-US" sz="12000" b="1" dirty="0">
                <a:solidFill>
                  <a:srgbClr val="FFFFFF"/>
                </a:solidFill>
                <a:latin typeface="Arial" pitchFamily="34" charset="0"/>
                <a:ea typeface="Arial" pitchFamily="34" charset="-122"/>
                <a:cs typeface="Arial" pitchFamily="34" charset="-120"/>
              </a:rPr>
              <a:t>6</a:t>
            </a:r>
            <a:endParaRPr lang="en-US" sz="12000" dirty="0"/>
          </a:p>
        </p:txBody>
      </p:sp>
      <p:sp>
        <p:nvSpPr>
          <p:cNvPr id="6" name="Text 4"/>
          <p:cNvSpPr txBox="1"/>
          <p:nvPr/>
        </p:nvSpPr>
        <p:spPr>
          <a:xfrm>
            <a:off x="685800" y="3429000"/>
            <a:ext cx="2468880" cy="82296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Leitfadeninterviews mit BWL-Bachelorstudierenden</a:t>
            </a:r>
            <a:endParaRPr lang="en-US" sz="1400" dirty="0"/>
          </a:p>
        </p:txBody>
      </p:sp>
      <p:sp>
        <p:nvSpPr>
          <p:cNvPr id="7" name="Shape 5"/>
          <p:cNvSpPr/>
          <p:nvPr/>
        </p:nvSpPr>
        <p:spPr>
          <a:xfrm>
            <a:off x="3657600" y="1508760"/>
            <a:ext cx="2377440" cy="1371600"/>
          </a:xfrm>
          <a:prstGeom prst="roundRect">
            <a:avLst>
              <a:gd name="adj" fmla="val 5333"/>
            </a:avLst>
          </a:prstGeom>
          <a:solidFill>
            <a:srgbClr val="F2F3F6"/>
          </a:solidFill>
          <a:ln w="12700">
            <a:solidFill>
              <a:srgbClr val="F2F3F6"/>
            </a:solidFill>
            <a:prstDash val="solid"/>
          </a:ln>
        </p:spPr>
      </p:sp>
      <p:sp>
        <p:nvSpPr>
          <p:cNvPr id="8" name="Shape 6"/>
          <p:cNvSpPr/>
          <p:nvPr/>
        </p:nvSpPr>
        <p:spPr>
          <a:xfrm>
            <a:off x="3840480" y="1691640"/>
            <a:ext cx="411480" cy="411480"/>
          </a:xfrm>
          <a:prstGeom prst="ellipse">
            <a:avLst/>
          </a:prstGeom>
          <a:solidFill>
            <a:srgbClr val="FFFFFF"/>
          </a:solidFill>
          <a:ln w="12700">
            <a:solidFill>
              <a:srgbClr val="FFFFFF"/>
            </a:solidFill>
            <a:prstDash val="solid"/>
          </a:ln>
        </p:spPr>
      </p:sp>
      <p:pic>
        <p:nvPicPr>
          <p:cNvPr id="9" name="Image 0" descr="preencoded.png">    </p:cNvPr>
          <p:cNvPicPr>
            <a:picLocks noChangeAspect="1"/>
          </p:cNvPicPr>
          <p:nvPr/>
        </p:nvPicPr>
        <p:blipFill>
          <a:blip r:embed="rId1"/>
          <a:stretch>
            <a:fillRect/>
          </a:stretch>
        </p:blipFill>
        <p:spPr>
          <a:xfrm>
            <a:off x="3943350" y="1794510"/>
            <a:ext cx="205740" cy="205740"/>
          </a:xfrm>
          <a:prstGeom prst="rect">
            <a:avLst/>
          </a:prstGeom>
        </p:spPr>
      </p:pic>
      <p:sp>
        <p:nvSpPr>
          <p:cNvPr id="10" name="Text 7"/>
          <p:cNvSpPr txBox="1"/>
          <p:nvPr/>
        </p:nvSpPr>
        <p:spPr>
          <a:xfrm>
            <a:off x="3840480" y="2194560"/>
            <a:ext cx="2011680" cy="274320"/>
          </a:xfrm>
          <a:prstGeom prst="rect">
            <a:avLst/>
          </a:prstGeom>
          <a:noFill/>
          <a:ln/>
        </p:spPr>
        <p:txBody>
          <a:bodyPr wrap="square" lIns="0" tIns="0" rIns="0" bIns="0" rtlCol="0" anchor="ctr"/>
          <a:lstStyle/>
          <a:p>
            <a:pPr indent="0" marL="0">
              <a:buNone/>
            </a:pPr>
            <a:r>
              <a:rPr lang="en-US" sz="1250" b="1" dirty="0">
                <a:solidFill>
                  <a:srgbClr val="1A1C25"/>
                </a:solidFill>
                <a:latin typeface="Arial" pitchFamily="34" charset="0"/>
                <a:ea typeface="Arial" pitchFamily="34" charset="-122"/>
                <a:cs typeface="Arial" pitchFamily="34" charset="-120"/>
              </a:rPr>
              <a:t>Mehrere Hochschulen</a:t>
            </a:r>
            <a:endParaRPr lang="en-US" sz="1250" dirty="0"/>
          </a:p>
        </p:txBody>
      </p:sp>
      <p:sp>
        <p:nvSpPr>
          <p:cNvPr id="11" name="Text 8"/>
          <p:cNvSpPr txBox="1"/>
          <p:nvPr/>
        </p:nvSpPr>
        <p:spPr>
          <a:xfrm>
            <a:off x="3840480" y="2468880"/>
            <a:ext cx="2011680" cy="365760"/>
          </a:xfrm>
          <a:prstGeom prst="rect">
            <a:avLst/>
          </a:prstGeom>
          <a:noFill/>
          <a:ln/>
        </p:spPr>
        <p:txBody>
          <a:bodyPr wrap="square" lIns="0" tIns="0" rIns="0" bIns="0" rtlCol="0" anchor="t"/>
          <a:lstStyle/>
          <a:p>
            <a:pPr indent="0" marL="0">
              <a:buNone/>
            </a:pPr>
            <a:r>
              <a:rPr lang="en-US" sz="1050" dirty="0">
                <a:solidFill>
                  <a:srgbClr val="646A7C"/>
                </a:solidFill>
                <a:latin typeface="Calibri" pitchFamily="34" charset="0"/>
                <a:ea typeface="Calibri" pitchFamily="34" charset="-122"/>
                <a:cs typeface="Calibri" pitchFamily="34" charset="-120"/>
              </a:rPr>
              <a:t>Unterschiedliche Studienkontexte abbilden</a:t>
            </a:r>
            <a:endParaRPr lang="en-US" sz="1050" dirty="0"/>
          </a:p>
        </p:txBody>
      </p:sp>
      <p:sp>
        <p:nvSpPr>
          <p:cNvPr id="12" name="Shape 9"/>
          <p:cNvSpPr/>
          <p:nvPr/>
        </p:nvSpPr>
        <p:spPr>
          <a:xfrm>
            <a:off x="6309360" y="1508760"/>
            <a:ext cx="2377440" cy="1371600"/>
          </a:xfrm>
          <a:prstGeom prst="roundRect">
            <a:avLst>
              <a:gd name="adj" fmla="val 5333"/>
            </a:avLst>
          </a:prstGeom>
          <a:solidFill>
            <a:srgbClr val="F2F3F6"/>
          </a:solidFill>
          <a:ln w="12700">
            <a:solidFill>
              <a:srgbClr val="F2F3F6"/>
            </a:solidFill>
            <a:prstDash val="solid"/>
          </a:ln>
        </p:spPr>
      </p:sp>
      <p:sp>
        <p:nvSpPr>
          <p:cNvPr id="13" name="Shape 10"/>
          <p:cNvSpPr/>
          <p:nvPr/>
        </p:nvSpPr>
        <p:spPr>
          <a:xfrm>
            <a:off x="6492240" y="1691640"/>
            <a:ext cx="411480" cy="411480"/>
          </a:xfrm>
          <a:prstGeom prst="ellipse">
            <a:avLst/>
          </a:prstGeom>
          <a:solidFill>
            <a:srgbClr val="FFFFFF"/>
          </a:solidFill>
          <a:ln w="12700">
            <a:solidFill>
              <a:srgbClr val="FFFFFF"/>
            </a:solidFill>
            <a:prstDash val="solid"/>
          </a:ln>
        </p:spPr>
      </p:sp>
      <p:pic>
        <p:nvPicPr>
          <p:cNvPr id="14" name="Image 1" descr="preencoded.png">    </p:cNvPr>
          <p:cNvPicPr>
            <a:picLocks noChangeAspect="1"/>
          </p:cNvPicPr>
          <p:nvPr/>
        </p:nvPicPr>
        <p:blipFill>
          <a:blip r:embed="rId2"/>
          <a:stretch>
            <a:fillRect/>
          </a:stretch>
        </p:blipFill>
        <p:spPr>
          <a:xfrm>
            <a:off x="6595110" y="1794510"/>
            <a:ext cx="205740" cy="205740"/>
          </a:xfrm>
          <a:prstGeom prst="rect">
            <a:avLst/>
          </a:prstGeom>
        </p:spPr>
      </p:pic>
      <p:sp>
        <p:nvSpPr>
          <p:cNvPr id="15" name="Text 11"/>
          <p:cNvSpPr txBox="1"/>
          <p:nvPr/>
        </p:nvSpPr>
        <p:spPr>
          <a:xfrm>
            <a:off x="6492240" y="2194560"/>
            <a:ext cx="2011680" cy="274320"/>
          </a:xfrm>
          <a:prstGeom prst="rect">
            <a:avLst/>
          </a:prstGeom>
          <a:noFill/>
          <a:ln/>
        </p:spPr>
        <p:txBody>
          <a:bodyPr wrap="square" lIns="0" tIns="0" rIns="0" bIns="0" rtlCol="0" anchor="ctr"/>
          <a:lstStyle/>
          <a:p>
            <a:pPr indent="0" marL="0">
              <a:buNone/>
            </a:pPr>
            <a:r>
              <a:rPr lang="en-US" sz="1250" b="1" dirty="0">
                <a:solidFill>
                  <a:srgbClr val="1A1C25"/>
                </a:solidFill>
                <a:latin typeface="Arial" pitchFamily="34" charset="0"/>
                <a:ea typeface="Arial" pitchFamily="34" charset="-122"/>
                <a:cs typeface="Arial" pitchFamily="34" charset="-120"/>
              </a:rPr>
              <a:t>Frühe vs. späte Semester</a:t>
            </a:r>
            <a:endParaRPr lang="en-US" sz="1250" dirty="0"/>
          </a:p>
        </p:txBody>
      </p:sp>
      <p:sp>
        <p:nvSpPr>
          <p:cNvPr id="16" name="Text 12"/>
          <p:cNvSpPr txBox="1"/>
          <p:nvPr/>
        </p:nvSpPr>
        <p:spPr>
          <a:xfrm>
            <a:off x="6492240" y="2468880"/>
            <a:ext cx="2011680" cy="365760"/>
          </a:xfrm>
          <a:prstGeom prst="rect">
            <a:avLst/>
          </a:prstGeom>
          <a:noFill/>
          <a:ln/>
        </p:spPr>
        <p:txBody>
          <a:bodyPr wrap="square" lIns="0" tIns="0" rIns="0" bIns="0" rtlCol="0" anchor="t"/>
          <a:lstStyle/>
          <a:p>
            <a:pPr indent="0" marL="0">
              <a:buNone/>
            </a:pPr>
            <a:r>
              <a:rPr lang="en-US" sz="1050" dirty="0">
                <a:solidFill>
                  <a:srgbClr val="646A7C"/>
                </a:solidFill>
                <a:latin typeface="Calibri" pitchFamily="34" charset="0"/>
                <a:ea typeface="Calibri" pitchFamily="34" charset="-122"/>
                <a:cs typeface="Calibri" pitchFamily="34" charset="-120"/>
              </a:rPr>
              <a:t>Konkurrenzwahrnehmung kann sich im Verlauf ändern</a:t>
            </a:r>
            <a:endParaRPr lang="en-US" sz="1050" dirty="0"/>
          </a:p>
        </p:txBody>
      </p:sp>
      <p:sp>
        <p:nvSpPr>
          <p:cNvPr id="17" name="Shape 13"/>
          <p:cNvSpPr/>
          <p:nvPr/>
        </p:nvSpPr>
        <p:spPr>
          <a:xfrm>
            <a:off x="3657600" y="3154680"/>
            <a:ext cx="2377440" cy="1371600"/>
          </a:xfrm>
          <a:prstGeom prst="roundRect">
            <a:avLst>
              <a:gd name="adj" fmla="val 5333"/>
            </a:avLst>
          </a:prstGeom>
          <a:solidFill>
            <a:srgbClr val="F2F3F6"/>
          </a:solidFill>
          <a:ln w="12700">
            <a:solidFill>
              <a:srgbClr val="F2F3F6"/>
            </a:solidFill>
            <a:prstDash val="solid"/>
          </a:ln>
        </p:spPr>
      </p:sp>
      <p:sp>
        <p:nvSpPr>
          <p:cNvPr id="18" name="Shape 14"/>
          <p:cNvSpPr/>
          <p:nvPr/>
        </p:nvSpPr>
        <p:spPr>
          <a:xfrm>
            <a:off x="3840480" y="3337560"/>
            <a:ext cx="411480" cy="411480"/>
          </a:xfrm>
          <a:prstGeom prst="ellipse">
            <a:avLst/>
          </a:prstGeom>
          <a:solidFill>
            <a:srgbClr val="FFFFFF"/>
          </a:solidFill>
          <a:ln w="12700">
            <a:solidFill>
              <a:srgbClr val="FFFFFF"/>
            </a:solidFill>
            <a:prstDash val="solid"/>
          </a:ln>
        </p:spPr>
      </p:sp>
      <p:pic>
        <p:nvPicPr>
          <p:cNvPr id="19" name="Image 2" descr="preencoded.png">    </p:cNvPr>
          <p:cNvPicPr>
            <a:picLocks noChangeAspect="1"/>
          </p:cNvPicPr>
          <p:nvPr/>
        </p:nvPicPr>
        <p:blipFill>
          <a:blip r:embed="rId3"/>
          <a:stretch>
            <a:fillRect/>
          </a:stretch>
        </p:blipFill>
        <p:spPr>
          <a:xfrm>
            <a:off x="3943350" y="3440430"/>
            <a:ext cx="205740" cy="205740"/>
          </a:xfrm>
          <a:prstGeom prst="rect">
            <a:avLst/>
          </a:prstGeom>
        </p:spPr>
      </p:pic>
      <p:sp>
        <p:nvSpPr>
          <p:cNvPr id="20" name="Text 15"/>
          <p:cNvSpPr txBox="1"/>
          <p:nvPr/>
        </p:nvSpPr>
        <p:spPr>
          <a:xfrm>
            <a:off x="3840480" y="3840480"/>
            <a:ext cx="2011680" cy="274320"/>
          </a:xfrm>
          <a:prstGeom prst="rect">
            <a:avLst/>
          </a:prstGeom>
          <a:noFill/>
          <a:ln/>
        </p:spPr>
        <p:txBody>
          <a:bodyPr wrap="square" lIns="0" tIns="0" rIns="0" bIns="0" rtlCol="0" anchor="ctr"/>
          <a:lstStyle/>
          <a:p>
            <a:pPr indent="0" marL="0">
              <a:buNone/>
            </a:pPr>
            <a:r>
              <a:rPr lang="en-US" sz="1250" b="1" dirty="0">
                <a:solidFill>
                  <a:srgbClr val="1A1C25"/>
                </a:solidFill>
                <a:latin typeface="Arial" pitchFamily="34" charset="0"/>
                <a:ea typeface="Arial" pitchFamily="34" charset="-122"/>
                <a:cs typeface="Arial" pitchFamily="34" charset="-120"/>
              </a:rPr>
              <a:t>Persönliches Netzwerk</a:t>
            </a:r>
            <a:endParaRPr lang="en-US" sz="1250" dirty="0"/>
          </a:p>
        </p:txBody>
      </p:sp>
      <p:sp>
        <p:nvSpPr>
          <p:cNvPr id="21" name="Text 16"/>
          <p:cNvSpPr txBox="1"/>
          <p:nvPr/>
        </p:nvSpPr>
        <p:spPr>
          <a:xfrm>
            <a:off x="3840480" y="4114800"/>
            <a:ext cx="2011680" cy="365760"/>
          </a:xfrm>
          <a:prstGeom prst="rect">
            <a:avLst/>
          </a:prstGeom>
          <a:noFill/>
          <a:ln/>
        </p:spPr>
        <p:txBody>
          <a:bodyPr wrap="square" lIns="0" tIns="0" rIns="0" bIns="0" rtlCol="0" anchor="t"/>
          <a:lstStyle/>
          <a:p>
            <a:pPr indent="0" marL="0">
              <a:buNone/>
            </a:pPr>
            <a:r>
              <a:rPr lang="en-US" sz="1050" dirty="0">
                <a:solidFill>
                  <a:srgbClr val="646A7C"/>
                </a:solidFill>
                <a:latin typeface="Calibri" pitchFamily="34" charset="0"/>
                <a:ea typeface="Calibri" pitchFamily="34" charset="-122"/>
                <a:cs typeface="Calibri" pitchFamily="34" charset="-120"/>
              </a:rPr>
              <a:t>Niedrigschwelliger Zugang zu einem sensiblen Thema</a:t>
            </a:r>
            <a:endParaRPr lang="en-US" sz="1050" dirty="0"/>
          </a:p>
        </p:txBody>
      </p:sp>
      <p:sp>
        <p:nvSpPr>
          <p:cNvPr id="22" name="Shape 17"/>
          <p:cNvSpPr/>
          <p:nvPr/>
        </p:nvSpPr>
        <p:spPr>
          <a:xfrm>
            <a:off x="6309360" y="3154680"/>
            <a:ext cx="2377440" cy="1371600"/>
          </a:xfrm>
          <a:prstGeom prst="roundRect">
            <a:avLst>
              <a:gd name="adj" fmla="val 5333"/>
            </a:avLst>
          </a:prstGeom>
          <a:solidFill>
            <a:srgbClr val="F2F3F6"/>
          </a:solidFill>
          <a:ln w="12700">
            <a:solidFill>
              <a:srgbClr val="F2F3F6"/>
            </a:solidFill>
            <a:prstDash val="solid"/>
          </a:ln>
        </p:spPr>
      </p:sp>
      <p:sp>
        <p:nvSpPr>
          <p:cNvPr id="23" name="Shape 18"/>
          <p:cNvSpPr/>
          <p:nvPr/>
        </p:nvSpPr>
        <p:spPr>
          <a:xfrm>
            <a:off x="6492240" y="3337560"/>
            <a:ext cx="411480" cy="411480"/>
          </a:xfrm>
          <a:prstGeom prst="ellipse">
            <a:avLst/>
          </a:prstGeom>
          <a:solidFill>
            <a:srgbClr val="FFFFFF"/>
          </a:solidFill>
          <a:ln w="12700">
            <a:solidFill>
              <a:srgbClr val="FFFFFF"/>
            </a:solidFill>
            <a:prstDash val="solid"/>
          </a:ln>
        </p:spPr>
      </p:sp>
      <p:pic>
        <p:nvPicPr>
          <p:cNvPr id="24" name="Image 3" descr="preencoded.png">    </p:cNvPr>
          <p:cNvPicPr>
            <a:picLocks noChangeAspect="1"/>
          </p:cNvPicPr>
          <p:nvPr/>
        </p:nvPicPr>
        <p:blipFill>
          <a:blip r:embed="rId4"/>
          <a:stretch>
            <a:fillRect/>
          </a:stretch>
        </p:blipFill>
        <p:spPr>
          <a:xfrm>
            <a:off x="6595110" y="3440430"/>
            <a:ext cx="205740" cy="205740"/>
          </a:xfrm>
          <a:prstGeom prst="rect">
            <a:avLst/>
          </a:prstGeom>
        </p:spPr>
      </p:pic>
      <p:sp>
        <p:nvSpPr>
          <p:cNvPr id="25" name="Text 19"/>
          <p:cNvSpPr txBox="1"/>
          <p:nvPr/>
        </p:nvSpPr>
        <p:spPr>
          <a:xfrm>
            <a:off x="6492240" y="3840480"/>
            <a:ext cx="2011680" cy="274320"/>
          </a:xfrm>
          <a:prstGeom prst="rect">
            <a:avLst/>
          </a:prstGeom>
          <a:noFill/>
          <a:ln/>
        </p:spPr>
        <p:txBody>
          <a:bodyPr wrap="square" lIns="0" tIns="0" rIns="0" bIns="0" rtlCol="0" anchor="ctr"/>
          <a:lstStyle/>
          <a:p>
            <a:pPr indent="0" marL="0">
              <a:buNone/>
            </a:pPr>
            <a:r>
              <a:rPr lang="en-US" sz="1250" b="1" dirty="0">
                <a:solidFill>
                  <a:srgbClr val="1A1C25"/>
                </a:solidFill>
                <a:latin typeface="Arial" pitchFamily="34" charset="0"/>
                <a:ea typeface="Arial" pitchFamily="34" charset="-122"/>
                <a:cs typeface="Arial" pitchFamily="34" charset="-120"/>
              </a:rPr>
              <a:t>Bewusste Auswahl</a:t>
            </a:r>
            <a:endParaRPr lang="en-US" sz="1250" dirty="0"/>
          </a:p>
        </p:txBody>
      </p:sp>
      <p:sp>
        <p:nvSpPr>
          <p:cNvPr id="26" name="Text 20"/>
          <p:cNvSpPr txBox="1"/>
          <p:nvPr/>
        </p:nvSpPr>
        <p:spPr>
          <a:xfrm>
            <a:off x="6492240" y="4114800"/>
            <a:ext cx="2011680" cy="365760"/>
          </a:xfrm>
          <a:prstGeom prst="rect">
            <a:avLst/>
          </a:prstGeom>
          <a:noFill/>
          <a:ln/>
        </p:spPr>
        <p:txBody>
          <a:bodyPr wrap="square" lIns="0" tIns="0" rIns="0" bIns="0" rtlCol="0" anchor="t"/>
          <a:lstStyle/>
          <a:p>
            <a:pPr indent="0" marL="0">
              <a:buNone/>
            </a:pPr>
            <a:r>
              <a:rPr lang="en-US" sz="1050" dirty="0">
                <a:solidFill>
                  <a:srgbClr val="646A7C"/>
                </a:solidFill>
                <a:latin typeface="Calibri" pitchFamily="34" charset="0"/>
                <a:ea typeface="Calibri" pitchFamily="34" charset="-122"/>
                <a:cs typeface="Calibri" pitchFamily="34" charset="-120"/>
              </a:rPr>
              <a:t>Keine Zufallsstichprobe, sondern an der Frage orientiert</a:t>
            </a:r>
            <a:endParaRPr lang="en-US" sz="1050" dirty="0"/>
          </a:p>
        </p:txBody>
      </p:sp>
      <p:sp>
        <p:nvSpPr>
          <p:cNvPr id="27" name="Text 21"/>
          <p:cNvSpPr txBox="1"/>
          <p:nvPr/>
        </p:nvSpPr>
        <p:spPr>
          <a:xfrm>
            <a:off x="457200" y="4773168"/>
            <a:ext cx="5486400" cy="228600"/>
          </a:xfrm>
          <a:prstGeom prst="rect">
            <a:avLst/>
          </a:prstGeom>
          <a:noFill/>
          <a:ln/>
        </p:spPr>
        <p:txBody>
          <a:bodyPr wrap="square" lIns="0" tIns="0" rIns="0" bIns="0" rtlCol="0" anchor="ctr"/>
          <a:lstStyle/>
          <a:p>
            <a:pPr indent="0" marL="0">
              <a:buNone/>
            </a:pPr>
            <a:r>
              <a:rPr lang="en-US" sz="850" dirty="0">
                <a:solidFill>
                  <a:srgbClr val="646A7C"/>
                </a:solidFill>
                <a:latin typeface="Calibri" pitchFamily="34" charset="0"/>
                <a:ea typeface="Calibri" pitchFamily="34" charset="-122"/>
                <a:cs typeface="Calibri" pitchFamily="34" charset="-120"/>
              </a:rPr>
              <a:t>Qualitative Methoden  ·  Arslan, Mansen, Schims, Stock</a:t>
            </a:r>
            <a:endParaRPr lang="en-US" sz="850" dirty="0"/>
          </a:p>
        </p:txBody>
      </p:sp>
      <p:sp>
        <p:nvSpPr>
          <p:cNvPr id="28" name="Text 22"/>
          <p:cNvSpPr txBox="1"/>
          <p:nvPr/>
        </p:nvSpPr>
        <p:spPr>
          <a:xfrm>
            <a:off x="7315200" y="4773168"/>
            <a:ext cx="1371600" cy="228600"/>
          </a:xfrm>
          <a:prstGeom prst="rect">
            <a:avLst/>
          </a:prstGeom>
          <a:noFill/>
          <a:ln/>
        </p:spPr>
        <p:txBody>
          <a:bodyPr wrap="square" lIns="0" tIns="0" rIns="0" bIns="0" rtlCol="0" anchor="ctr"/>
          <a:lstStyle/>
          <a:p>
            <a:pPr algn="r" indent="0" marL="0">
              <a:buNone/>
            </a:pPr>
            <a:r>
              <a:rPr lang="en-US" sz="850" dirty="0">
                <a:solidFill>
                  <a:srgbClr val="646A7C"/>
                </a:solidFill>
                <a:latin typeface="Calibri" pitchFamily="34" charset="0"/>
                <a:ea typeface="Calibri" pitchFamily="34" charset="-122"/>
                <a:cs typeface="Calibri" pitchFamily="34" charset="-120"/>
              </a:rPr>
              <a:t>06 / 11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900" b="1" spc="300" kern="0" dirty="0">
                <a:solidFill>
                  <a:srgbClr val="E8553B"/>
                </a:solidFill>
                <a:latin typeface="Arial" pitchFamily="34" charset="0"/>
                <a:ea typeface="Arial" pitchFamily="34" charset="-122"/>
                <a:cs typeface="Arial" pitchFamily="34" charset="-120"/>
              </a:rPr>
              <a:t>04  —  AUSWERTUNGSMETHODE</a:t>
            </a:r>
            <a:endParaRPr lang="en-US" sz="900" dirty="0"/>
          </a:p>
        </p:txBody>
      </p:sp>
      <p:sp>
        <p:nvSpPr>
          <p:cNvPr id="3" name="Text 1"/>
          <p:cNvSpPr txBox="1"/>
          <p:nvPr/>
        </p:nvSpPr>
        <p:spPr>
          <a:xfrm>
            <a:off x="457200" y="621792"/>
            <a:ext cx="8229600" cy="685800"/>
          </a:xfrm>
          <a:prstGeom prst="rect">
            <a:avLst/>
          </a:prstGeom>
          <a:noFill/>
          <a:ln/>
        </p:spPr>
        <p:txBody>
          <a:bodyPr wrap="square" lIns="0" tIns="0" rIns="0" bIns="0" rtlCol="0" anchor="t"/>
          <a:lstStyle/>
          <a:p>
            <a:pPr indent="0" marL="0">
              <a:buNone/>
            </a:pPr>
            <a:r>
              <a:rPr lang="en-US" sz="2800" b="1" dirty="0">
                <a:solidFill>
                  <a:srgbClr val="1A1C25"/>
                </a:solidFill>
                <a:latin typeface="Arial" pitchFamily="34" charset="0"/>
                <a:ea typeface="Arial" pitchFamily="34" charset="-122"/>
                <a:cs typeface="Arial" pitchFamily="34" charset="-120"/>
              </a:rPr>
              <a:t>Grounded Theory: vom Text zur Theorie</a:t>
            </a:r>
            <a:endParaRPr lang="en-US" sz="2800" dirty="0"/>
          </a:p>
        </p:txBody>
      </p:sp>
      <p:sp>
        <p:nvSpPr>
          <p:cNvPr id="4" name="Shape 2"/>
          <p:cNvSpPr/>
          <p:nvPr/>
        </p:nvSpPr>
        <p:spPr>
          <a:xfrm>
            <a:off x="457200" y="1554480"/>
            <a:ext cx="2423160" cy="2514600"/>
          </a:xfrm>
          <a:prstGeom prst="roundRect">
            <a:avLst>
              <a:gd name="adj" fmla="val 3019"/>
            </a:avLst>
          </a:prstGeom>
          <a:solidFill>
            <a:srgbClr val="F2F3F6"/>
          </a:solidFill>
          <a:ln w="12700">
            <a:solidFill>
              <a:srgbClr val="F2F3F6"/>
            </a:solidFill>
            <a:prstDash val="solid"/>
          </a:ln>
        </p:spPr>
      </p:sp>
      <p:sp>
        <p:nvSpPr>
          <p:cNvPr id="5" name="Text 3"/>
          <p:cNvSpPr txBox="1"/>
          <p:nvPr/>
        </p:nvSpPr>
        <p:spPr>
          <a:xfrm>
            <a:off x="685800" y="1783080"/>
            <a:ext cx="914400" cy="457200"/>
          </a:xfrm>
          <a:prstGeom prst="rect">
            <a:avLst/>
          </a:prstGeom>
          <a:noFill/>
          <a:ln/>
        </p:spPr>
        <p:txBody>
          <a:bodyPr wrap="square" lIns="0" tIns="0" rIns="0" bIns="0" rtlCol="0" anchor="ctr"/>
          <a:lstStyle/>
          <a:p>
            <a:pPr indent="0" marL="0">
              <a:buNone/>
            </a:pPr>
            <a:r>
              <a:rPr lang="en-US" sz="2600" b="1" dirty="0">
                <a:solidFill>
                  <a:srgbClr val="E8553B"/>
                </a:solidFill>
                <a:latin typeface="Arial" pitchFamily="34" charset="0"/>
                <a:ea typeface="Arial" pitchFamily="34" charset="-122"/>
                <a:cs typeface="Arial" pitchFamily="34" charset="-120"/>
              </a:rPr>
              <a:t>01</a:t>
            </a:r>
            <a:endParaRPr lang="en-US" sz="2600" dirty="0"/>
          </a:p>
        </p:txBody>
      </p:sp>
      <p:sp>
        <p:nvSpPr>
          <p:cNvPr id="6" name="Shape 4"/>
          <p:cNvSpPr/>
          <p:nvPr/>
        </p:nvSpPr>
        <p:spPr>
          <a:xfrm>
            <a:off x="2148840" y="1783080"/>
            <a:ext cx="502920" cy="50292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2274570" y="1908810"/>
            <a:ext cx="251460" cy="251460"/>
          </a:xfrm>
          <a:prstGeom prst="rect">
            <a:avLst/>
          </a:prstGeom>
        </p:spPr>
      </p:pic>
      <p:sp>
        <p:nvSpPr>
          <p:cNvPr id="8" name="Text 5"/>
          <p:cNvSpPr txBox="1"/>
          <p:nvPr/>
        </p:nvSpPr>
        <p:spPr>
          <a:xfrm>
            <a:off x="685800" y="2468880"/>
            <a:ext cx="1965960" cy="365760"/>
          </a:xfrm>
          <a:prstGeom prst="rect">
            <a:avLst/>
          </a:prstGeom>
          <a:noFill/>
          <a:ln/>
        </p:spPr>
        <p:txBody>
          <a:bodyPr wrap="square" lIns="0" tIns="0" rIns="0" bIns="0" rtlCol="0" anchor="ctr"/>
          <a:lstStyle/>
          <a:p>
            <a:pPr indent="0" marL="0">
              <a:buNone/>
            </a:pPr>
            <a:r>
              <a:rPr lang="en-US" sz="1500" b="1" dirty="0">
                <a:solidFill>
                  <a:srgbClr val="1A1C25"/>
                </a:solidFill>
                <a:latin typeface="Arial" pitchFamily="34" charset="0"/>
                <a:ea typeface="Arial" pitchFamily="34" charset="-122"/>
                <a:cs typeface="Arial" pitchFamily="34" charset="-120"/>
              </a:rPr>
              <a:t>Offenes Kodieren</a:t>
            </a:r>
            <a:endParaRPr lang="en-US" sz="1500" dirty="0"/>
          </a:p>
        </p:txBody>
      </p:sp>
      <p:sp>
        <p:nvSpPr>
          <p:cNvPr id="9" name="Text 6"/>
          <p:cNvSpPr txBox="1"/>
          <p:nvPr/>
        </p:nvSpPr>
        <p:spPr>
          <a:xfrm>
            <a:off x="685800" y="2880360"/>
            <a:ext cx="1965960" cy="1051560"/>
          </a:xfrm>
          <a:prstGeom prst="rect">
            <a:avLst/>
          </a:prstGeom>
          <a:noFill/>
          <a:ln/>
        </p:spPr>
        <p:txBody>
          <a:bodyPr wrap="square" lIns="0" tIns="0" rIns="0" bIns="0" rtlCol="0" anchor="t"/>
          <a:lstStyle/>
          <a:p>
            <a:pPr indent="0" marL="0">
              <a:buNone/>
            </a:pPr>
            <a:r>
              <a:rPr lang="en-US" sz="1200" dirty="0">
                <a:solidFill>
                  <a:srgbClr val="646A7C"/>
                </a:solidFill>
                <a:latin typeface="Calibri" pitchFamily="34" charset="0"/>
                <a:ea typeface="Calibri" pitchFamily="34" charset="-122"/>
                <a:cs typeface="Calibri" pitchFamily="34" charset="-120"/>
              </a:rPr>
              <a:t>Zentrale Aussagen im Transkript werden direkt am Text mit Codes versehen.</a:t>
            </a:r>
            <a:endParaRPr lang="en-US" sz="1200" dirty="0"/>
          </a:p>
        </p:txBody>
      </p:sp>
      <p:sp>
        <p:nvSpPr>
          <p:cNvPr id="10" name="Shape 7"/>
          <p:cNvSpPr/>
          <p:nvPr/>
        </p:nvSpPr>
        <p:spPr>
          <a:xfrm>
            <a:off x="2971800" y="2811780"/>
            <a:ext cx="297180" cy="0"/>
          </a:xfrm>
          <a:prstGeom prst="line">
            <a:avLst/>
          </a:prstGeom>
          <a:noFill/>
          <a:ln w="25400">
            <a:solidFill>
              <a:srgbClr val="E8553B"/>
            </a:solidFill>
            <a:prstDash val="solid"/>
            <a:tailEnd type="triangle"/>
          </a:ln>
        </p:spPr>
      </p:sp>
      <p:sp>
        <p:nvSpPr>
          <p:cNvPr id="11" name="Shape 8"/>
          <p:cNvSpPr/>
          <p:nvPr/>
        </p:nvSpPr>
        <p:spPr>
          <a:xfrm>
            <a:off x="3360420" y="1554480"/>
            <a:ext cx="2423160" cy="2514600"/>
          </a:xfrm>
          <a:prstGeom prst="roundRect">
            <a:avLst>
              <a:gd name="adj" fmla="val 3019"/>
            </a:avLst>
          </a:prstGeom>
          <a:solidFill>
            <a:srgbClr val="F2F3F6"/>
          </a:solidFill>
          <a:ln w="12700">
            <a:solidFill>
              <a:srgbClr val="F2F3F6"/>
            </a:solidFill>
            <a:prstDash val="solid"/>
          </a:ln>
        </p:spPr>
      </p:sp>
      <p:sp>
        <p:nvSpPr>
          <p:cNvPr id="12" name="Text 9"/>
          <p:cNvSpPr txBox="1"/>
          <p:nvPr/>
        </p:nvSpPr>
        <p:spPr>
          <a:xfrm>
            <a:off x="3589020" y="1783080"/>
            <a:ext cx="914400" cy="457200"/>
          </a:xfrm>
          <a:prstGeom prst="rect">
            <a:avLst/>
          </a:prstGeom>
          <a:noFill/>
          <a:ln/>
        </p:spPr>
        <p:txBody>
          <a:bodyPr wrap="square" lIns="0" tIns="0" rIns="0" bIns="0" rtlCol="0" anchor="ctr"/>
          <a:lstStyle/>
          <a:p>
            <a:pPr indent="0" marL="0">
              <a:buNone/>
            </a:pPr>
            <a:r>
              <a:rPr lang="en-US" sz="2600" b="1" dirty="0">
                <a:solidFill>
                  <a:srgbClr val="E8553B"/>
                </a:solidFill>
                <a:latin typeface="Arial" pitchFamily="34" charset="0"/>
                <a:ea typeface="Arial" pitchFamily="34" charset="-122"/>
                <a:cs typeface="Arial" pitchFamily="34" charset="-120"/>
              </a:rPr>
              <a:t>02</a:t>
            </a:r>
            <a:endParaRPr lang="en-US" sz="2600" dirty="0"/>
          </a:p>
        </p:txBody>
      </p:sp>
      <p:sp>
        <p:nvSpPr>
          <p:cNvPr id="13" name="Shape 10"/>
          <p:cNvSpPr/>
          <p:nvPr/>
        </p:nvSpPr>
        <p:spPr>
          <a:xfrm>
            <a:off x="5052060" y="1783080"/>
            <a:ext cx="502920" cy="502920"/>
          </a:xfrm>
          <a:prstGeom prst="ellipse">
            <a:avLst/>
          </a:prstGeom>
          <a:solidFill>
            <a:srgbClr val="FFFFFF"/>
          </a:solidFill>
          <a:ln w="12700">
            <a:solidFill>
              <a:srgbClr val="FFFFFF"/>
            </a:solidFill>
            <a:prstDash val="solid"/>
          </a:ln>
        </p:spPr>
      </p:sp>
      <p:pic>
        <p:nvPicPr>
          <p:cNvPr id="14" name="Image 1" descr="preencoded.png">    </p:cNvPr>
          <p:cNvPicPr>
            <a:picLocks noChangeAspect="1"/>
          </p:cNvPicPr>
          <p:nvPr/>
        </p:nvPicPr>
        <p:blipFill>
          <a:blip r:embed="rId2"/>
          <a:stretch>
            <a:fillRect/>
          </a:stretch>
        </p:blipFill>
        <p:spPr>
          <a:xfrm>
            <a:off x="5177790" y="1908810"/>
            <a:ext cx="251460" cy="251460"/>
          </a:xfrm>
          <a:prstGeom prst="rect">
            <a:avLst/>
          </a:prstGeom>
        </p:spPr>
      </p:pic>
      <p:sp>
        <p:nvSpPr>
          <p:cNvPr id="15" name="Text 11"/>
          <p:cNvSpPr txBox="1"/>
          <p:nvPr/>
        </p:nvSpPr>
        <p:spPr>
          <a:xfrm>
            <a:off x="3589020" y="2468880"/>
            <a:ext cx="1965960" cy="365760"/>
          </a:xfrm>
          <a:prstGeom prst="rect">
            <a:avLst/>
          </a:prstGeom>
          <a:noFill/>
          <a:ln/>
        </p:spPr>
        <p:txBody>
          <a:bodyPr wrap="square" lIns="0" tIns="0" rIns="0" bIns="0" rtlCol="0" anchor="ctr"/>
          <a:lstStyle/>
          <a:p>
            <a:pPr indent="0" marL="0">
              <a:buNone/>
            </a:pPr>
            <a:r>
              <a:rPr lang="en-US" sz="1500" b="1" dirty="0">
                <a:solidFill>
                  <a:srgbClr val="1A1C25"/>
                </a:solidFill>
                <a:latin typeface="Arial" pitchFamily="34" charset="0"/>
                <a:ea typeface="Arial" pitchFamily="34" charset="-122"/>
                <a:cs typeface="Arial" pitchFamily="34" charset="-120"/>
              </a:rPr>
              <a:t>Axiales Kodieren</a:t>
            </a:r>
            <a:endParaRPr lang="en-US" sz="1500" dirty="0"/>
          </a:p>
        </p:txBody>
      </p:sp>
      <p:sp>
        <p:nvSpPr>
          <p:cNvPr id="16" name="Text 12"/>
          <p:cNvSpPr txBox="1"/>
          <p:nvPr/>
        </p:nvSpPr>
        <p:spPr>
          <a:xfrm>
            <a:off x="3589020" y="2880360"/>
            <a:ext cx="1965960" cy="1051560"/>
          </a:xfrm>
          <a:prstGeom prst="rect">
            <a:avLst/>
          </a:prstGeom>
          <a:noFill/>
          <a:ln/>
        </p:spPr>
        <p:txBody>
          <a:bodyPr wrap="square" lIns="0" tIns="0" rIns="0" bIns="0" rtlCol="0" anchor="t"/>
          <a:lstStyle/>
          <a:p>
            <a:pPr indent="0" marL="0">
              <a:buNone/>
            </a:pPr>
            <a:r>
              <a:rPr lang="en-US" sz="1200" dirty="0">
                <a:solidFill>
                  <a:srgbClr val="646A7C"/>
                </a:solidFill>
                <a:latin typeface="Calibri" pitchFamily="34" charset="0"/>
                <a:ea typeface="Calibri" pitchFamily="34" charset="-122"/>
                <a:cs typeface="Calibri" pitchFamily="34" charset="-120"/>
              </a:rPr>
              <a:t>Zusammengehörige Codes werden zu Kategorien gebündelt und ihre Beziehungen untersucht.</a:t>
            </a:r>
            <a:endParaRPr lang="en-US" sz="1200" dirty="0"/>
          </a:p>
        </p:txBody>
      </p:sp>
      <p:sp>
        <p:nvSpPr>
          <p:cNvPr id="17" name="Shape 13"/>
          <p:cNvSpPr/>
          <p:nvPr/>
        </p:nvSpPr>
        <p:spPr>
          <a:xfrm>
            <a:off x="5875020" y="2811780"/>
            <a:ext cx="297180" cy="0"/>
          </a:xfrm>
          <a:prstGeom prst="line">
            <a:avLst/>
          </a:prstGeom>
          <a:noFill/>
          <a:ln w="25400">
            <a:solidFill>
              <a:srgbClr val="E8553B"/>
            </a:solidFill>
            <a:prstDash val="solid"/>
            <a:tailEnd type="triangle"/>
          </a:ln>
        </p:spPr>
      </p:sp>
      <p:sp>
        <p:nvSpPr>
          <p:cNvPr id="18" name="Shape 14"/>
          <p:cNvSpPr/>
          <p:nvPr/>
        </p:nvSpPr>
        <p:spPr>
          <a:xfrm>
            <a:off x="6263640" y="1554480"/>
            <a:ext cx="2423160" cy="2514600"/>
          </a:xfrm>
          <a:prstGeom prst="roundRect">
            <a:avLst>
              <a:gd name="adj" fmla="val 3019"/>
            </a:avLst>
          </a:prstGeom>
          <a:solidFill>
            <a:srgbClr val="14161F"/>
          </a:solidFill>
          <a:ln w="12700">
            <a:solidFill>
              <a:srgbClr val="14161F"/>
            </a:solidFill>
            <a:prstDash val="solid"/>
          </a:ln>
        </p:spPr>
      </p:sp>
      <p:sp>
        <p:nvSpPr>
          <p:cNvPr id="19" name="Text 15"/>
          <p:cNvSpPr txBox="1"/>
          <p:nvPr/>
        </p:nvSpPr>
        <p:spPr>
          <a:xfrm>
            <a:off x="6492240" y="1783080"/>
            <a:ext cx="914400" cy="457200"/>
          </a:xfrm>
          <a:prstGeom prst="rect">
            <a:avLst/>
          </a:prstGeom>
          <a:noFill/>
          <a:ln/>
        </p:spPr>
        <p:txBody>
          <a:bodyPr wrap="square" lIns="0" tIns="0" rIns="0" bIns="0" rtlCol="0" anchor="ctr"/>
          <a:lstStyle/>
          <a:p>
            <a:pPr indent="0" marL="0">
              <a:buNone/>
            </a:pPr>
            <a:r>
              <a:rPr lang="en-US" sz="2600" b="1" dirty="0">
                <a:solidFill>
                  <a:srgbClr val="E8553B"/>
                </a:solidFill>
                <a:latin typeface="Arial" pitchFamily="34" charset="0"/>
                <a:ea typeface="Arial" pitchFamily="34" charset="-122"/>
                <a:cs typeface="Arial" pitchFamily="34" charset="-120"/>
              </a:rPr>
              <a:t>03</a:t>
            </a:r>
            <a:endParaRPr lang="en-US" sz="2600" dirty="0"/>
          </a:p>
        </p:txBody>
      </p:sp>
      <p:sp>
        <p:nvSpPr>
          <p:cNvPr id="20" name="Shape 16"/>
          <p:cNvSpPr/>
          <p:nvPr/>
        </p:nvSpPr>
        <p:spPr>
          <a:xfrm>
            <a:off x="7955280" y="1783080"/>
            <a:ext cx="502920" cy="502920"/>
          </a:xfrm>
          <a:prstGeom prst="ellipse">
            <a:avLst/>
          </a:prstGeom>
          <a:solidFill>
            <a:srgbClr val="E8553B"/>
          </a:solidFill>
          <a:ln w="12700">
            <a:solidFill>
              <a:srgbClr val="E8553B"/>
            </a:solidFill>
            <a:prstDash val="solid"/>
          </a:ln>
        </p:spPr>
      </p:sp>
      <p:pic>
        <p:nvPicPr>
          <p:cNvPr id="21" name="Image 2" descr="preencoded.png">    </p:cNvPr>
          <p:cNvPicPr>
            <a:picLocks noChangeAspect="1"/>
          </p:cNvPicPr>
          <p:nvPr/>
        </p:nvPicPr>
        <p:blipFill>
          <a:blip r:embed="rId3"/>
          <a:stretch>
            <a:fillRect/>
          </a:stretch>
        </p:blipFill>
        <p:spPr>
          <a:xfrm>
            <a:off x="8081010" y="1908810"/>
            <a:ext cx="251460" cy="251460"/>
          </a:xfrm>
          <a:prstGeom prst="rect">
            <a:avLst/>
          </a:prstGeom>
        </p:spPr>
      </p:pic>
      <p:sp>
        <p:nvSpPr>
          <p:cNvPr id="22" name="Text 17"/>
          <p:cNvSpPr txBox="1"/>
          <p:nvPr/>
        </p:nvSpPr>
        <p:spPr>
          <a:xfrm>
            <a:off x="6492240" y="2468880"/>
            <a:ext cx="196596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Selektives Kodieren</a:t>
            </a:r>
            <a:endParaRPr lang="en-US" sz="1500" dirty="0"/>
          </a:p>
        </p:txBody>
      </p:sp>
      <p:sp>
        <p:nvSpPr>
          <p:cNvPr id="23" name="Text 18"/>
          <p:cNvSpPr txBox="1"/>
          <p:nvPr/>
        </p:nvSpPr>
        <p:spPr>
          <a:xfrm>
            <a:off x="6492240" y="2880360"/>
            <a:ext cx="1965960" cy="1051560"/>
          </a:xfrm>
          <a:prstGeom prst="rect">
            <a:avLst/>
          </a:prstGeom>
          <a:noFill/>
          <a:ln/>
        </p:spPr>
        <p:txBody>
          <a:bodyPr wrap="square" lIns="0" tIns="0" rIns="0" bIns="0" rtlCol="0" anchor="t"/>
          <a:lstStyle/>
          <a:p>
            <a:pPr indent="0" marL="0">
              <a:buNone/>
            </a:pPr>
            <a:r>
              <a:rPr lang="en-US" sz="1200" dirty="0">
                <a:solidFill>
                  <a:srgbClr val="C9CCD8"/>
                </a:solidFill>
                <a:latin typeface="Calibri" pitchFamily="34" charset="0"/>
                <a:ea typeface="Calibri" pitchFamily="34" charset="-122"/>
                <a:cs typeface="Calibri" pitchFamily="34" charset="-120"/>
              </a:rPr>
              <a:t>Zentrale Kategorien verdichten sich zu einer Kernkategorie und einer gegenstandsbezogenen Theorie.</a:t>
            </a:r>
            <a:endParaRPr lang="en-US" sz="1200" dirty="0"/>
          </a:p>
        </p:txBody>
      </p:sp>
      <p:sp>
        <p:nvSpPr>
          <p:cNvPr id="24" name="Text 19"/>
          <p:cNvSpPr txBox="1"/>
          <p:nvPr/>
        </p:nvSpPr>
        <p:spPr>
          <a:xfrm>
            <a:off x="457200" y="4224528"/>
            <a:ext cx="8229600" cy="274320"/>
          </a:xfrm>
          <a:prstGeom prst="rect">
            <a:avLst/>
          </a:prstGeom>
          <a:noFill/>
          <a:ln/>
        </p:spPr>
        <p:txBody>
          <a:bodyPr wrap="square" lIns="0" tIns="0" rIns="0" bIns="0" rtlCol="0" anchor="ctr"/>
          <a:lstStyle/>
          <a:p>
            <a:pPr indent="0" marL="0">
              <a:buNone/>
            </a:pPr>
            <a:r>
              <a:rPr lang="en-US" sz="1150" i="1" dirty="0">
                <a:solidFill>
                  <a:srgbClr val="646A7C"/>
                </a:solidFill>
                <a:latin typeface="Calibri" pitchFamily="34" charset="0"/>
                <a:ea typeface="Calibri" pitchFamily="34" charset="-122"/>
                <a:cs typeface="Calibri" pitchFamily="34" charset="-120"/>
              </a:rPr>
              <a:t>Verdichtung: viele Codes  →  wenige Kategorien  →  eine Kernkategorie</a:t>
            </a:r>
            <a:endParaRPr lang="en-US" sz="1150" dirty="0"/>
          </a:p>
        </p:txBody>
      </p:sp>
      <p:sp>
        <p:nvSpPr>
          <p:cNvPr id="25" name="Text 20"/>
          <p:cNvSpPr txBox="1"/>
          <p:nvPr/>
        </p:nvSpPr>
        <p:spPr>
          <a:xfrm>
            <a:off x="457200" y="4773168"/>
            <a:ext cx="5486400" cy="228600"/>
          </a:xfrm>
          <a:prstGeom prst="rect">
            <a:avLst/>
          </a:prstGeom>
          <a:noFill/>
          <a:ln/>
        </p:spPr>
        <p:txBody>
          <a:bodyPr wrap="square" lIns="0" tIns="0" rIns="0" bIns="0" rtlCol="0" anchor="ctr"/>
          <a:lstStyle/>
          <a:p>
            <a:pPr indent="0" marL="0">
              <a:buNone/>
            </a:pPr>
            <a:r>
              <a:rPr lang="en-US" sz="850" dirty="0">
                <a:solidFill>
                  <a:srgbClr val="646A7C"/>
                </a:solidFill>
                <a:latin typeface="Calibri" pitchFamily="34" charset="0"/>
                <a:ea typeface="Calibri" pitchFamily="34" charset="-122"/>
                <a:cs typeface="Calibri" pitchFamily="34" charset="-120"/>
              </a:rPr>
              <a:t>Qualitative Methoden  ·  Arslan, Mansen, Schims, Stock</a:t>
            </a:r>
            <a:endParaRPr lang="en-US" sz="850" dirty="0"/>
          </a:p>
        </p:txBody>
      </p:sp>
      <p:sp>
        <p:nvSpPr>
          <p:cNvPr id="26" name="Text 21"/>
          <p:cNvSpPr txBox="1"/>
          <p:nvPr/>
        </p:nvSpPr>
        <p:spPr>
          <a:xfrm>
            <a:off x="7315200" y="4773168"/>
            <a:ext cx="1371600" cy="228600"/>
          </a:xfrm>
          <a:prstGeom prst="rect">
            <a:avLst/>
          </a:prstGeom>
          <a:noFill/>
          <a:ln/>
        </p:spPr>
        <p:txBody>
          <a:bodyPr wrap="square" lIns="0" tIns="0" rIns="0" bIns="0" rtlCol="0" anchor="ctr"/>
          <a:lstStyle/>
          <a:p>
            <a:pPr algn="r" indent="0" marL="0">
              <a:buNone/>
            </a:pPr>
            <a:r>
              <a:rPr lang="en-US" sz="850" dirty="0">
                <a:solidFill>
                  <a:srgbClr val="646A7C"/>
                </a:solidFill>
                <a:latin typeface="Calibri" pitchFamily="34" charset="0"/>
                <a:ea typeface="Calibri" pitchFamily="34" charset="-122"/>
                <a:cs typeface="Calibri" pitchFamily="34" charset="-120"/>
              </a:rPr>
              <a:t>07 / 11</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900" b="1" spc="300" kern="0" dirty="0">
                <a:solidFill>
                  <a:srgbClr val="E8553B"/>
                </a:solidFill>
                <a:latin typeface="Arial" pitchFamily="34" charset="0"/>
                <a:ea typeface="Arial" pitchFamily="34" charset="-122"/>
                <a:cs typeface="Arial" pitchFamily="34" charset="-120"/>
              </a:rPr>
              <a:t>04  —  KATEGORIENSYSTEM</a:t>
            </a:r>
            <a:endParaRPr lang="en-US" sz="900" dirty="0"/>
          </a:p>
        </p:txBody>
      </p:sp>
      <p:sp>
        <p:nvSpPr>
          <p:cNvPr id="3" name="Text 1"/>
          <p:cNvSpPr txBox="1"/>
          <p:nvPr/>
        </p:nvSpPr>
        <p:spPr>
          <a:xfrm>
            <a:off x="457200" y="621792"/>
            <a:ext cx="8229600" cy="685800"/>
          </a:xfrm>
          <a:prstGeom prst="rect">
            <a:avLst/>
          </a:prstGeom>
          <a:noFill/>
          <a:ln/>
        </p:spPr>
        <p:txBody>
          <a:bodyPr wrap="square" lIns="0" tIns="0" rIns="0" bIns="0" rtlCol="0" anchor="t"/>
          <a:lstStyle/>
          <a:p>
            <a:pPr indent="0" marL="0">
              <a:buNone/>
            </a:pPr>
            <a:r>
              <a:rPr lang="en-US" sz="2800" b="1" dirty="0">
                <a:solidFill>
                  <a:srgbClr val="1A1C25"/>
                </a:solidFill>
                <a:latin typeface="Arial" pitchFamily="34" charset="0"/>
                <a:ea typeface="Arial" pitchFamily="34" charset="-122"/>
                <a:cs typeface="Arial" pitchFamily="34" charset="-120"/>
              </a:rPr>
              <a:t>Vier Kategorien, ein Kern</a:t>
            </a:r>
            <a:endParaRPr lang="en-US" sz="2800" dirty="0"/>
          </a:p>
        </p:txBody>
      </p:sp>
      <p:sp>
        <p:nvSpPr>
          <p:cNvPr id="4" name="Shape 2"/>
          <p:cNvSpPr/>
          <p:nvPr/>
        </p:nvSpPr>
        <p:spPr>
          <a:xfrm>
            <a:off x="2743200" y="2194560"/>
            <a:ext cx="1051560" cy="777240"/>
          </a:xfrm>
          <a:prstGeom prst="line">
            <a:avLst/>
          </a:prstGeom>
          <a:noFill/>
          <a:ln w="19050">
            <a:solidFill>
              <a:srgbClr val="DADCE3"/>
            </a:solidFill>
            <a:prstDash val="dash"/>
          </a:ln>
        </p:spPr>
      </p:sp>
      <p:sp>
        <p:nvSpPr>
          <p:cNvPr id="5" name="Shape 3"/>
          <p:cNvSpPr/>
          <p:nvPr/>
        </p:nvSpPr>
        <p:spPr>
          <a:xfrm flipV="1">
            <a:off x="2743200" y="2971800"/>
            <a:ext cx="1051560" cy="868680"/>
          </a:xfrm>
          <a:prstGeom prst="line">
            <a:avLst/>
          </a:prstGeom>
          <a:noFill/>
          <a:ln w="19050">
            <a:solidFill>
              <a:srgbClr val="DADCE3"/>
            </a:solidFill>
            <a:prstDash val="dash"/>
          </a:ln>
        </p:spPr>
      </p:sp>
      <p:sp>
        <p:nvSpPr>
          <p:cNvPr id="6" name="Shape 4"/>
          <p:cNvSpPr/>
          <p:nvPr/>
        </p:nvSpPr>
        <p:spPr>
          <a:xfrm flipV="1">
            <a:off x="5349240" y="2194560"/>
            <a:ext cx="1051560" cy="777240"/>
          </a:xfrm>
          <a:prstGeom prst="line">
            <a:avLst/>
          </a:prstGeom>
          <a:noFill/>
          <a:ln w="19050">
            <a:solidFill>
              <a:srgbClr val="DADCE3"/>
            </a:solidFill>
            <a:prstDash val="dash"/>
          </a:ln>
        </p:spPr>
      </p:sp>
      <p:sp>
        <p:nvSpPr>
          <p:cNvPr id="7" name="Shape 5"/>
          <p:cNvSpPr/>
          <p:nvPr/>
        </p:nvSpPr>
        <p:spPr>
          <a:xfrm>
            <a:off x="5349240" y="2971800"/>
            <a:ext cx="1051560" cy="868680"/>
          </a:xfrm>
          <a:prstGeom prst="line">
            <a:avLst/>
          </a:prstGeom>
          <a:noFill/>
          <a:ln w="19050">
            <a:solidFill>
              <a:srgbClr val="DADCE3"/>
            </a:solidFill>
            <a:prstDash val="dash"/>
          </a:ln>
        </p:spPr>
      </p:sp>
      <p:sp>
        <p:nvSpPr>
          <p:cNvPr id="8" name="Shape 6"/>
          <p:cNvSpPr/>
          <p:nvPr/>
        </p:nvSpPr>
        <p:spPr>
          <a:xfrm>
            <a:off x="457200" y="1508760"/>
            <a:ext cx="2286000" cy="1371600"/>
          </a:xfrm>
          <a:prstGeom prst="roundRect">
            <a:avLst>
              <a:gd name="adj" fmla="val 5333"/>
            </a:avLst>
          </a:prstGeom>
          <a:solidFill>
            <a:srgbClr val="F2F3F6"/>
          </a:solidFill>
          <a:ln w="12700">
            <a:solidFill>
              <a:srgbClr val="F2F3F6"/>
            </a:solidFill>
            <a:prstDash val="solid"/>
          </a:ln>
        </p:spPr>
      </p:sp>
      <p:sp>
        <p:nvSpPr>
          <p:cNvPr id="9" name="Shape 7"/>
          <p:cNvSpPr/>
          <p:nvPr/>
        </p:nvSpPr>
        <p:spPr>
          <a:xfrm>
            <a:off x="640080" y="1691640"/>
            <a:ext cx="411480" cy="411480"/>
          </a:xfrm>
          <a:prstGeom prst="ellipse">
            <a:avLst/>
          </a:prstGeom>
          <a:solidFill>
            <a:srgbClr val="FFFFFF"/>
          </a:solidFill>
          <a:ln w="12700">
            <a:solidFill>
              <a:srgbClr val="FFFFFF"/>
            </a:solidFill>
            <a:prstDash val="solid"/>
          </a:ln>
        </p:spPr>
      </p:sp>
      <p:pic>
        <p:nvPicPr>
          <p:cNvPr id="10" name="Image 0" descr="preencoded.png">    </p:cNvPr>
          <p:cNvPicPr>
            <a:picLocks noChangeAspect="1"/>
          </p:cNvPicPr>
          <p:nvPr/>
        </p:nvPicPr>
        <p:blipFill>
          <a:blip r:embed="rId1"/>
          <a:stretch>
            <a:fillRect/>
          </a:stretch>
        </p:blipFill>
        <p:spPr>
          <a:xfrm>
            <a:off x="742950" y="1794510"/>
            <a:ext cx="205740" cy="205740"/>
          </a:xfrm>
          <a:prstGeom prst="rect">
            <a:avLst/>
          </a:prstGeom>
        </p:spPr>
      </p:pic>
      <p:sp>
        <p:nvSpPr>
          <p:cNvPr id="11" name="Text 8"/>
          <p:cNvSpPr txBox="1"/>
          <p:nvPr/>
        </p:nvSpPr>
        <p:spPr>
          <a:xfrm>
            <a:off x="640080" y="2194560"/>
            <a:ext cx="1920240" cy="274320"/>
          </a:xfrm>
          <a:prstGeom prst="rect">
            <a:avLst/>
          </a:prstGeom>
          <a:noFill/>
          <a:ln/>
        </p:spPr>
        <p:txBody>
          <a:bodyPr wrap="square" lIns="0" tIns="0" rIns="0" bIns="0" rtlCol="0" anchor="ctr"/>
          <a:lstStyle/>
          <a:p>
            <a:pPr indent="0" marL="0">
              <a:buNone/>
            </a:pPr>
            <a:r>
              <a:rPr lang="en-US" sz="1300" b="1" dirty="0">
                <a:solidFill>
                  <a:srgbClr val="1A1C25"/>
                </a:solidFill>
                <a:latin typeface="Arial" pitchFamily="34" charset="0"/>
                <a:ea typeface="Arial" pitchFamily="34" charset="-122"/>
                <a:cs typeface="Arial" pitchFamily="34" charset="-120"/>
              </a:rPr>
              <a:t>Wahrnehmung</a:t>
            </a:r>
            <a:endParaRPr lang="en-US" sz="1300" dirty="0"/>
          </a:p>
        </p:txBody>
      </p:sp>
      <p:sp>
        <p:nvSpPr>
          <p:cNvPr id="12" name="Text 9"/>
          <p:cNvSpPr txBox="1"/>
          <p:nvPr/>
        </p:nvSpPr>
        <p:spPr>
          <a:xfrm>
            <a:off x="640080" y="2468880"/>
            <a:ext cx="1920240" cy="274320"/>
          </a:xfrm>
          <a:prstGeom prst="rect">
            <a:avLst/>
          </a:prstGeom>
          <a:noFill/>
          <a:ln/>
        </p:spPr>
        <p:txBody>
          <a:bodyPr wrap="square" lIns="0" tIns="0" rIns="0" bIns="0" rtlCol="0" anchor="ctr"/>
          <a:lstStyle/>
          <a:p>
            <a:pPr indent="0" marL="0">
              <a:buNone/>
            </a:pPr>
            <a:r>
              <a:rPr lang="en-US" sz="1100" dirty="0">
                <a:solidFill>
                  <a:srgbClr val="646A7C"/>
                </a:solidFill>
                <a:latin typeface="Calibri" pitchFamily="34" charset="0"/>
                <a:ea typeface="Calibri" pitchFamily="34" charset="-122"/>
                <a:cs typeface="Calibri" pitchFamily="34" charset="-120"/>
              </a:rPr>
              <a:t>Wie wird Konkurrenz erlebt?</a:t>
            </a:r>
            <a:endParaRPr lang="en-US" sz="1100" dirty="0"/>
          </a:p>
        </p:txBody>
      </p:sp>
      <p:sp>
        <p:nvSpPr>
          <p:cNvPr id="13" name="Shape 10"/>
          <p:cNvSpPr/>
          <p:nvPr/>
        </p:nvSpPr>
        <p:spPr>
          <a:xfrm>
            <a:off x="457200" y="3154680"/>
            <a:ext cx="2286000" cy="1371600"/>
          </a:xfrm>
          <a:prstGeom prst="roundRect">
            <a:avLst>
              <a:gd name="adj" fmla="val 5333"/>
            </a:avLst>
          </a:prstGeom>
          <a:solidFill>
            <a:srgbClr val="F2F3F6"/>
          </a:solidFill>
          <a:ln w="12700">
            <a:solidFill>
              <a:srgbClr val="F2F3F6"/>
            </a:solidFill>
            <a:prstDash val="solid"/>
          </a:ln>
        </p:spPr>
      </p:sp>
      <p:sp>
        <p:nvSpPr>
          <p:cNvPr id="14" name="Shape 11"/>
          <p:cNvSpPr/>
          <p:nvPr/>
        </p:nvSpPr>
        <p:spPr>
          <a:xfrm>
            <a:off x="640080" y="3337560"/>
            <a:ext cx="411480" cy="411480"/>
          </a:xfrm>
          <a:prstGeom prst="ellipse">
            <a:avLst/>
          </a:prstGeom>
          <a:solidFill>
            <a:srgbClr val="FFFFFF"/>
          </a:solidFill>
          <a:ln w="12700">
            <a:solidFill>
              <a:srgbClr val="FFFFFF"/>
            </a:solidFill>
            <a:prstDash val="solid"/>
          </a:ln>
        </p:spPr>
      </p:sp>
      <p:pic>
        <p:nvPicPr>
          <p:cNvPr id="15" name="Image 1" descr="preencoded.png">    </p:cNvPr>
          <p:cNvPicPr>
            <a:picLocks noChangeAspect="1"/>
          </p:cNvPicPr>
          <p:nvPr/>
        </p:nvPicPr>
        <p:blipFill>
          <a:blip r:embed="rId2"/>
          <a:stretch>
            <a:fillRect/>
          </a:stretch>
        </p:blipFill>
        <p:spPr>
          <a:xfrm>
            <a:off x="742950" y="3440430"/>
            <a:ext cx="205740" cy="205740"/>
          </a:xfrm>
          <a:prstGeom prst="rect">
            <a:avLst/>
          </a:prstGeom>
        </p:spPr>
      </p:pic>
      <p:sp>
        <p:nvSpPr>
          <p:cNvPr id="16" name="Text 12"/>
          <p:cNvSpPr txBox="1"/>
          <p:nvPr/>
        </p:nvSpPr>
        <p:spPr>
          <a:xfrm>
            <a:off x="640080" y="3840480"/>
            <a:ext cx="1920240" cy="274320"/>
          </a:xfrm>
          <a:prstGeom prst="rect">
            <a:avLst/>
          </a:prstGeom>
          <a:noFill/>
          <a:ln/>
        </p:spPr>
        <p:txBody>
          <a:bodyPr wrap="square" lIns="0" tIns="0" rIns="0" bIns="0" rtlCol="0" anchor="ctr"/>
          <a:lstStyle/>
          <a:p>
            <a:pPr indent="0" marL="0">
              <a:buNone/>
            </a:pPr>
            <a:r>
              <a:rPr lang="en-US" sz="1300" b="1" dirty="0">
                <a:solidFill>
                  <a:srgbClr val="1A1C25"/>
                </a:solidFill>
                <a:latin typeface="Arial" pitchFamily="34" charset="0"/>
                <a:ea typeface="Arial" pitchFamily="34" charset="-122"/>
                <a:cs typeface="Arial" pitchFamily="34" charset="-120"/>
              </a:rPr>
              <a:t>Gründe &amp; Ursachen</a:t>
            </a:r>
            <a:endParaRPr lang="en-US" sz="1300" dirty="0"/>
          </a:p>
        </p:txBody>
      </p:sp>
      <p:sp>
        <p:nvSpPr>
          <p:cNvPr id="17" name="Text 13"/>
          <p:cNvSpPr txBox="1"/>
          <p:nvPr/>
        </p:nvSpPr>
        <p:spPr>
          <a:xfrm>
            <a:off x="640080" y="4114800"/>
            <a:ext cx="1920240" cy="274320"/>
          </a:xfrm>
          <a:prstGeom prst="rect">
            <a:avLst/>
          </a:prstGeom>
          <a:noFill/>
          <a:ln/>
        </p:spPr>
        <p:txBody>
          <a:bodyPr wrap="square" lIns="0" tIns="0" rIns="0" bIns="0" rtlCol="0" anchor="ctr"/>
          <a:lstStyle/>
          <a:p>
            <a:pPr indent="0" marL="0">
              <a:buNone/>
            </a:pPr>
            <a:r>
              <a:rPr lang="en-US" sz="1100" dirty="0">
                <a:solidFill>
                  <a:srgbClr val="646A7C"/>
                </a:solidFill>
                <a:latin typeface="Calibri" pitchFamily="34" charset="0"/>
                <a:ea typeface="Calibri" pitchFamily="34" charset="-122"/>
                <a:cs typeface="Calibri" pitchFamily="34" charset="-120"/>
              </a:rPr>
              <a:t>Was löst Konkurrenz aus?</a:t>
            </a:r>
            <a:endParaRPr lang="en-US" sz="1100" dirty="0"/>
          </a:p>
        </p:txBody>
      </p:sp>
      <p:sp>
        <p:nvSpPr>
          <p:cNvPr id="18" name="Shape 14"/>
          <p:cNvSpPr/>
          <p:nvPr/>
        </p:nvSpPr>
        <p:spPr>
          <a:xfrm>
            <a:off x="6400800" y="1508760"/>
            <a:ext cx="2286000" cy="1371600"/>
          </a:xfrm>
          <a:prstGeom prst="roundRect">
            <a:avLst>
              <a:gd name="adj" fmla="val 5333"/>
            </a:avLst>
          </a:prstGeom>
          <a:solidFill>
            <a:srgbClr val="F2F3F6"/>
          </a:solidFill>
          <a:ln w="12700">
            <a:solidFill>
              <a:srgbClr val="F2F3F6"/>
            </a:solidFill>
            <a:prstDash val="solid"/>
          </a:ln>
        </p:spPr>
      </p:sp>
      <p:sp>
        <p:nvSpPr>
          <p:cNvPr id="19" name="Shape 15"/>
          <p:cNvSpPr/>
          <p:nvPr/>
        </p:nvSpPr>
        <p:spPr>
          <a:xfrm>
            <a:off x="6583680" y="1691640"/>
            <a:ext cx="411480" cy="411480"/>
          </a:xfrm>
          <a:prstGeom prst="ellipse">
            <a:avLst/>
          </a:prstGeom>
          <a:solidFill>
            <a:srgbClr val="FFFFFF"/>
          </a:solidFill>
          <a:ln w="12700">
            <a:solidFill>
              <a:srgbClr val="FFFFFF"/>
            </a:solidFill>
            <a:prstDash val="solid"/>
          </a:ln>
        </p:spPr>
      </p:sp>
      <p:pic>
        <p:nvPicPr>
          <p:cNvPr id="20" name="Image 2" descr="preencoded.png">    </p:cNvPr>
          <p:cNvPicPr>
            <a:picLocks noChangeAspect="1"/>
          </p:cNvPicPr>
          <p:nvPr/>
        </p:nvPicPr>
        <p:blipFill>
          <a:blip r:embed="rId3"/>
          <a:stretch>
            <a:fillRect/>
          </a:stretch>
        </p:blipFill>
        <p:spPr>
          <a:xfrm>
            <a:off x="6686550" y="1794510"/>
            <a:ext cx="205740" cy="205740"/>
          </a:xfrm>
          <a:prstGeom prst="rect">
            <a:avLst/>
          </a:prstGeom>
        </p:spPr>
      </p:pic>
      <p:sp>
        <p:nvSpPr>
          <p:cNvPr id="21" name="Text 16"/>
          <p:cNvSpPr txBox="1"/>
          <p:nvPr/>
        </p:nvSpPr>
        <p:spPr>
          <a:xfrm>
            <a:off x="6583680" y="2194560"/>
            <a:ext cx="1920240" cy="274320"/>
          </a:xfrm>
          <a:prstGeom prst="rect">
            <a:avLst/>
          </a:prstGeom>
          <a:noFill/>
          <a:ln/>
        </p:spPr>
        <p:txBody>
          <a:bodyPr wrap="square" lIns="0" tIns="0" rIns="0" bIns="0" rtlCol="0" anchor="ctr"/>
          <a:lstStyle/>
          <a:p>
            <a:pPr indent="0" marL="0">
              <a:buNone/>
            </a:pPr>
            <a:r>
              <a:rPr lang="en-US" sz="1300" b="1" dirty="0">
                <a:solidFill>
                  <a:srgbClr val="1A1C25"/>
                </a:solidFill>
                <a:latin typeface="Arial" pitchFamily="34" charset="0"/>
                <a:ea typeface="Arial" pitchFamily="34" charset="-122"/>
                <a:cs typeface="Arial" pitchFamily="34" charset="-120"/>
              </a:rPr>
              <a:t>Verhalten</a:t>
            </a:r>
            <a:endParaRPr lang="en-US" sz="1300" dirty="0"/>
          </a:p>
        </p:txBody>
      </p:sp>
      <p:sp>
        <p:nvSpPr>
          <p:cNvPr id="22" name="Text 17"/>
          <p:cNvSpPr txBox="1"/>
          <p:nvPr/>
        </p:nvSpPr>
        <p:spPr>
          <a:xfrm>
            <a:off x="6583680" y="2468880"/>
            <a:ext cx="1920240" cy="274320"/>
          </a:xfrm>
          <a:prstGeom prst="rect">
            <a:avLst/>
          </a:prstGeom>
          <a:noFill/>
          <a:ln/>
        </p:spPr>
        <p:txBody>
          <a:bodyPr wrap="square" lIns="0" tIns="0" rIns="0" bIns="0" rtlCol="0" anchor="ctr"/>
          <a:lstStyle/>
          <a:p>
            <a:pPr indent="0" marL="0">
              <a:buNone/>
            </a:pPr>
            <a:r>
              <a:rPr lang="en-US" sz="1100" dirty="0">
                <a:solidFill>
                  <a:srgbClr val="646A7C"/>
                </a:solidFill>
                <a:latin typeface="Calibri" pitchFamily="34" charset="0"/>
                <a:ea typeface="Calibri" pitchFamily="34" charset="-122"/>
                <a:cs typeface="Calibri" pitchFamily="34" charset="-120"/>
              </a:rPr>
              <a:t>Wie wird gehandelt?</a:t>
            </a:r>
            <a:endParaRPr lang="en-US" sz="1100" dirty="0"/>
          </a:p>
        </p:txBody>
      </p:sp>
      <p:sp>
        <p:nvSpPr>
          <p:cNvPr id="23" name="Shape 18"/>
          <p:cNvSpPr/>
          <p:nvPr/>
        </p:nvSpPr>
        <p:spPr>
          <a:xfrm>
            <a:off x="6400800" y="3154680"/>
            <a:ext cx="2286000" cy="1371600"/>
          </a:xfrm>
          <a:prstGeom prst="roundRect">
            <a:avLst>
              <a:gd name="adj" fmla="val 5333"/>
            </a:avLst>
          </a:prstGeom>
          <a:solidFill>
            <a:srgbClr val="F2F3F6"/>
          </a:solidFill>
          <a:ln w="12700">
            <a:solidFill>
              <a:srgbClr val="F2F3F6"/>
            </a:solidFill>
            <a:prstDash val="solid"/>
          </a:ln>
        </p:spPr>
      </p:sp>
      <p:sp>
        <p:nvSpPr>
          <p:cNvPr id="24" name="Shape 19"/>
          <p:cNvSpPr/>
          <p:nvPr/>
        </p:nvSpPr>
        <p:spPr>
          <a:xfrm>
            <a:off x="6583680" y="3337560"/>
            <a:ext cx="411480" cy="411480"/>
          </a:xfrm>
          <a:prstGeom prst="ellipse">
            <a:avLst/>
          </a:prstGeom>
          <a:solidFill>
            <a:srgbClr val="FFFFFF"/>
          </a:solidFill>
          <a:ln w="12700">
            <a:solidFill>
              <a:srgbClr val="FFFFFF"/>
            </a:solidFill>
            <a:prstDash val="solid"/>
          </a:ln>
        </p:spPr>
      </p:sp>
      <p:pic>
        <p:nvPicPr>
          <p:cNvPr id="25" name="Image 3" descr="preencoded.png">    </p:cNvPr>
          <p:cNvPicPr>
            <a:picLocks noChangeAspect="1"/>
          </p:cNvPicPr>
          <p:nvPr/>
        </p:nvPicPr>
        <p:blipFill>
          <a:blip r:embed="rId4"/>
          <a:stretch>
            <a:fillRect/>
          </a:stretch>
        </p:blipFill>
        <p:spPr>
          <a:xfrm>
            <a:off x="6686550" y="3440430"/>
            <a:ext cx="205740" cy="205740"/>
          </a:xfrm>
          <a:prstGeom prst="rect">
            <a:avLst/>
          </a:prstGeom>
        </p:spPr>
      </p:pic>
      <p:sp>
        <p:nvSpPr>
          <p:cNvPr id="26" name="Text 20"/>
          <p:cNvSpPr txBox="1"/>
          <p:nvPr/>
        </p:nvSpPr>
        <p:spPr>
          <a:xfrm>
            <a:off x="6583680" y="3840480"/>
            <a:ext cx="1920240" cy="274320"/>
          </a:xfrm>
          <a:prstGeom prst="rect">
            <a:avLst/>
          </a:prstGeom>
          <a:noFill/>
          <a:ln/>
        </p:spPr>
        <p:txBody>
          <a:bodyPr wrap="square" lIns="0" tIns="0" rIns="0" bIns="0" rtlCol="0" anchor="ctr"/>
          <a:lstStyle/>
          <a:p>
            <a:pPr indent="0" marL="0">
              <a:buNone/>
            </a:pPr>
            <a:r>
              <a:rPr lang="en-US" sz="1300" b="1" dirty="0">
                <a:solidFill>
                  <a:srgbClr val="1A1C25"/>
                </a:solidFill>
                <a:latin typeface="Arial" pitchFamily="34" charset="0"/>
                <a:ea typeface="Arial" pitchFamily="34" charset="-122"/>
                <a:cs typeface="Arial" pitchFamily="34" charset="-120"/>
              </a:rPr>
              <a:t>Emotionaler Umgang</a:t>
            </a:r>
            <a:endParaRPr lang="en-US" sz="1300" dirty="0"/>
          </a:p>
        </p:txBody>
      </p:sp>
      <p:sp>
        <p:nvSpPr>
          <p:cNvPr id="27" name="Text 21"/>
          <p:cNvSpPr txBox="1"/>
          <p:nvPr/>
        </p:nvSpPr>
        <p:spPr>
          <a:xfrm>
            <a:off x="6583680" y="4114800"/>
            <a:ext cx="1920240" cy="274320"/>
          </a:xfrm>
          <a:prstGeom prst="rect">
            <a:avLst/>
          </a:prstGeom>
          <a:noFill/>
          <a:ln/>
        </p:spPr>
        <p:txBody>
          <a:bodyPr wrap="square" lIns="0" tIns="0" rIns="0" bIns="0" rtlCol="0" anchor="ctr"/>
          <a:lstStyle/>
          <a:p>
            <a:pPr indent="0" marL="0">
              <a:buNone/>
            </a:pPr>
            <a:r>
              <a:rPr lang="en-US" sz="1100" dirty="0">
                <a:solidFill>
                  <a:srgbClr val="646A7C"/>
                </a:solidFill>
                <a:latin typeface="Calibri" pitchFamily="34" charset="0"/>
                <a:ea typeface="Calibri" pitchFamily="34" charset="-122"/>
                <a:cs typeface="Calibri" pitchFamily="34" charset="-120"/>
              </a:rPr>
              <a:t>Wie wird sie verarbeitet?</a:t>
            </a:r>
            <a:endParaRPr lang="en-US" sz="1100" dirty="0"/>
          </a:p>
        </p:txBody>
      </p:sp>
      <p:sp>
        <p:nvSpPr>
          <p:cNvPr id="28" name="Shape 22"/>
          <p:cNvSpPr/>
          <p:nvPr/>
        </p:nvSpPr>
        <p:spPr>
          <a:xfrm>
            <a:off x="3794760" y="2194560"/>
            <a:ext cx="1554480" cy="1554480"/>
          </a:xfrm>
          <a:prstGeom prst="ellipse">
            <a:avLst/>
          </a:prstGeom>
          <a:solidFill>
            <a:srgbClr val="E8553B"/>
          </a:solidFill>
          <a:ln w="12700">
            <a:solidFill>
              <a:srgbClr val="E8553B"/>
            </a:solidFill>
            <a:prstDash val="solid"/>
          </a:ln>
          <a:effectLst>
            <a:outerShdw sx="100000" sy="100000" kx="0" ky="0" algn="bl" rotWithShape="0" blurRad="101600" dist="25400" dir="5400000">
              <a:srgbClr val="000000">
                <a:alpha val="10000"/>
              </a:srgbClr>
            </a:outerShdw>
          </a:effectLst>
        </p:spPr>
      </p:sp>
      <p:sp>
        <p:nvSpPr>
          <p:cNvPr id="29" name="Text 23"/>
          <p:cNvSpPr txBox="1"/>
          <p:nvPr/>
        </p:nvSpPr>
        <p:spPr>
          <a:xfrm>
            <a:off x="3931920" y="2194560"/>
            <a:ext cx="1280160" cy="1554480"/>
          </a:xfrm>
          <a:prstGeom prst="rect">
            <a:avLst/>
          </a:prstGeom>
          <a:noFill/>
          <a:ln/>
        </p:spPr>
        <p:txBody>
          <a:bodyPr wrap="square" lIns="0" tIns="0" rIns="0" bIns="0" rtlCol="0" anchor="ctr"/>
          <a:lstStyle/>
          <a:p>
            <a:pPr algn="ctr" indent="0" marL="0">
              <a:buNone/>
            </a:pPr>
            <a:r>
              <a:rPr lang="en-US" sz="800" b="1" spc="200" kern="0" dirty="0">
                <a:solidFill>
                  <a:srgbClr val="FFFFFF"/>
                </a:solidFill>
                <a:latin typeface="Arial" pitchFamily="34" charset="0"/>
                <a:ea typeface="Arial" pitchFamily="34" charset="-122"/>
                <a:cs typeface="Arial" pitchFamily="34" charset="-120"/>
              </a:rPr>
              <a:t>KERNKATEGORIE</a:t>
            </a:r>
            <a:endParaRPr lang="en-US" sz="800" dirty="0"/>
          </a:p>
          <a:p>
            <a:pPr algn="ctr" indent="0" marL="0">
              <a:buNone/>
            </a:pPr>
            <a:r>
              <a:rPr lang="en-US" sz="1400" b="1" dirty="0">
                <a:solidFill>
                  <a:srgbClr val="FFFFFF"/>
                </a:solidFill>
                <a:latin typeface="Arial" pitchFamily="34" charset="0"/>
                <a:ea typeface="Arial" pitchFamily="34" charset="-122"/>
                <a:cs typeface="Arial" pitchFamily="34" charset="-120"/>
              </a:rPr>
              <a:t>Wahrnehmung &amp; Wirkung</a:t>
            </a:r>
            <a:endParaRPr lang="en-US" sz="800" dirty="0"/>
          </a:p>
        </p:txBody>
      </p:sp>
      <p:sp>
        <p:nvSpPr>
          <p:cNvPr id="30" name="Text 24"/>
          <p:cNvSpPr txBox="1"/>
          <p:nvPr/>
        </p:nvSpPr>
        <p:spPr>
          <a:xfrm>
            <a:off x="457200" y="4434840"/>
            <a:ext cx="8229600" cy="274320"/>
          </a:xfrm>
          <a:prstGeom prst="rect">
            <a:avLst/>
          </a:prstGeom>
          <a:noFill/>
          <a:ln/>
        </p:spPr>
        <p:txBody>
          <a:bodyPr wrap="square" lIns="0" tIns="0" rIns="0" bIns="0" rtlCol="0" anchor="ctr"/>
          <a:lstStyle/>
          <a:p>
            <a:pPr algn="ctr" indent="0" marL="0">
              <a:buNone/>
            </a:pPr>
            <a:r>
              <a:rPr lang="en-US" sz="1100" i="1" dirty="0">
                <a:solidFill>
                  <a:srgbClr val="646A7C"/>
                </a:solidFill>
                <a:latin typeface="Calibri" pitchFamily="34" charset="0"/>
                <a:ea typeface="Calibri" pitchFamily="34" charset="-122"/>
                <a:cs typeface="Calibri" pitchFamily="34" charset="-120"/>
              </a:rPr>
              <a:t>Die Kernkategorie verbindet Ursache und Folge von Konkurrenz.</a:t>
            </a:r>
            <a:endParaRPr lang="en-US" sz="1100" dirty="0"/>
          </a:p>
        </p:txBody>
      </p:sp>
      <p:sp>
        <p:nvSpPr>
          <p:cNvPr id="31" name="Text 25"/>
          <p:cNvSpPr txBox="1"/>
          <p:nvPr/>
        </p:nvSpPr>
        <p:spPr>
          <a:xfrm>
            <a:off x="457200" y="4773168"/>
            <a:ext cx="5486400" cy="228600"/>
          </a:xfrm>
          <a:prstGeom prst="rect">
            <a:avLst/>
          </a:prstGeom>
          <a:noFill/>
          <a:ln/>
        </p:spPr>
        <p:txBody>
          <a:bodyPr wrap="square" lIns="0" tIns="0" rIns="0" bIns="0" rtlCol="0" anchor="ctr"/>
          <a:lstStyle/>
          <a:p>
            <a:pPr indent="0" marL="0">
              <a:buNone/>
            </a:pPr>
            <a:r>
              <a:rPr lang="en-US" sz="850" dirty="0">
                <a:solidFill>
                  <a:srgbClr val="646A7C"/>
                </a:solidFill>
                <a:latin typeface="Calibri" pitchFamily="34" charset="0"/>
                <a:ea typeface="Calibri" pitchFamily="34" charset="-122"/>
                <a:cs typeface="Calibri" pitchFamily="34" charset="-120"/>
              </a:rPr>
              <a:t>Qualitative Methoden  ·  Arslan, Mansen, Schims, Stock</a:t>
            </a:r>
            <a:endParaRPr lang="en-US" sz="850" dirty="0"/>
          </a:p>
        </p:txBody>
      </p:sp>
      <p:sp>
        <p:nvSpPr>
          <p:cNvPr id="32" name="Text 26"/>
          <p:cNvSpPr txBox="1"/>
          <p:nvPr/>
        </p:nvSpPr>
        <p:spPr>
          <a:xfrm>
            <a:off x="7315200" y="4773168"/>
            <a:ext cx="1371600" cy="228600"/>
          </a:xfrm>
          <a:prstGeom prst="rect">
            <a:avLst/>
          </a:prstGeom>
          <a:noFill/>
          <a:ln/>
        </p:spPr>
        <p:txBody>
          <a:bodyPr wrap="square" lIns="0" tIns="0" rIns="0" bIns="0" rtlCol="0" anchor="ctr"/>
          <a:lstStyle/>
          <a:p>
            <a:pPr algn="r" indent="0" marL="0">
              <a:buNone/>
            </a:pPr>
            <a:r>
              <a:rPr lang="en-US" sz="850" dirty="0">
                <a:solidFill>
                  <a:srgbClr val="646A7C"/>
                </a:solidFill>
                <a:latin typeface="Calibri" pitchFamily="34" charset="0"/>
                <a:ea typeface="Calibri" pitchFamily="34" charset="-122"/>
                <a:cs typeface="Calibri" pitchFamily="34" charset="-120"/>
              </a:rPr>
              <a:t>08 / 11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900" b="1" spc="300" kern="0" dirty="0">
                <a:solidFill>
                  <a:srgbClr val="E8553B"/>
                </a:solidFill>
                <a:latin typeface="Arial" pitchFamily="34" charset="0"/>
                <a:ea typeface="Arial" pitchFamily="34" charset="-122"/>
                <a:cs typeface="Arial" pitchFamily="34" charset="-120"/>
              </a:rPr>
              <a:t>05  —  ERSTE ERGEBNISSE</a:t>
            </a:r>
            <a:endParaRPr lang="en-US" sz="900" dirty="0"/>
          </a:p>
        </p:txBody>
      </p:sp>
      <p:sp>
        <p:nvSpPr>
          <p:cNvPr id="3" name="Text 1"/>
          <p:cNvSpPr txBox="1"/>
          <p:nvPr/>
        </p:nvSpPr>
        <p:spPr>
          <a:xfrm>
            <a:off x="457200" y="621792"/>
            <a:ext cx="8229600" cy="685800"/>
          </a:xfrm>
          <a:prstGeom prst="rect">
            <a:avLst/>
          </a:prstGeom>
          <a:noFill/>
          <a:ln/>
        </p:spPr>
        <p:txBody>
          <a:bodyPr wrap="square" lIns="0" tIns="0" rIns="0" bIns="0" rtlCol="0" anchor="t"/>
          <a:lstStyle/>
          <a:p>
            <a:pPr indent="0" marL="0">
              <a:buNone/>
            </a:pPr>
            <a:r>
              <a:rPr lang="en-US" sz="2800" b="1" dirty="0">
                <a:solidFill>
                  <a:srgbClr val="1A1C25"/>
                </a:solidFill>
                <a:latin typeface="Arial" pitchFamily="34" charset="0"/>
                <a:ea typeface="Arial" pitchFamily="34" charset="-122"/>
                <a:cs typeface="Arial" pitchFamily="34" charset="-120"/>
              </a:rPr>
              <a:t>Konkurrenz ist situativ – nicht konstant</a:t>
            </a:r>
            <a:endParaRPr lang="en-US" sz="2800" dirty="0"/>
          </a:p>
        </p:txBody>
      </p:sp>
      <p:sp>
        <p:nvSpPr>
          <p:cNvPr id="4" name="Shape 2"/>
          <p:cNvSpPr/>
          <p:nvPr/>
        </p:nvSpPr>
        <p:spPr>
          <a:xfrm>
            <a:off x="457200" y="1508760"/>
            <a:ext cx="2560320" cy="3017520"/>
          </a:xfrm>
          <a:prstGeom prst="roundRect">
            <a:avLst>
              <a:gd name="adj" fmla="val 2857"/>
            </a:avLst>
          </a:prstGeom>
          <a:solidFill>
            <a:srgbClr val="F2F3F6"/>
          </a:solidFill>
          <a:ln w="12700">
            <a:solidFill>
              <a:srgbClr val="F2F3F6"/>
            </a:solidFill>
            <a:prstDash val="solid"/>
          </a:ln>
        </p:spPr>
      </p:sp>
      <p:sp>
        <p:nvSpPr>
          <p:cNvPr id="5" name="Shape 3"/>
          <p:cNvSpPr/>
          <p:nvPr/>
        </p:nvSpPr>
        <p:spPr>
          <a:xfrm>
            <a:off x="685800" y="173736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1530" y="1863090"/>
            <a:ext cx="251460" cy="251460"/>
          </a:xfrm>
          <a:prstGeom prst="rect">
            <a:avLst/>
          </a:prstGeom>
        </p:spPr>
      </p:pic>
      <p:sp>
        <p:nvSpPr>
          <p:cNvPr id="7" name="Text 4"/>
          <p:cNvSpPr txBox="1"/>
          <p:nvPr/>
        </p:nvSpPr>
        <p:spPr>
          <a:xfrm>
            <a:off x="685800" y="2423160"/>
            <a:ext cx="2103120" cy="365760"/>
          </a:xfrm>
          <a:prstGeom prst="rect">
            <a:avLst/>
          </a:prstGeom>
          <a:noFill/>
          <a:ln/>
        </p:spPr>
        <p:txBody>
          <a:bodyPr wrap="square" lIns="0" tIns="0" rIns="0" bIns="0" rtlCol="0" anchor="ctr"/>
          <a:lstStyle/>
          <a:p>
            <a:pPr indent="0" marL="0">
              <a:buNone/>
            </a:pPr>
            <a:r>
              <a:rPr lang="en-US" sz="1500" b="1" dirty="0">
                <a:solidFill>
                  <a:srgbClr val="1A1C25"/>
                </a:solidFill>
                <a:latin typeface="Arial" pitchFamily="34" charset="0"/>
                <a:ea typeface="Arial" pitchFamily="34" charset="-122"/>
                <a:cs typeface="Arial" pitchFamily="34" charset="-120"/>
              </a:rPr>
              <a:t>Situationsabhängig</a:t>
            </a:r>
            <a:endParaRPr lang="en-US" sz="1500" dirty="0"/>
          </a:p>
        </p:txBody>
      </p:sp>
      <p:sp>
        <p:nvSpPr>
          <p:cNvPr id="8" name="Text 5"/>
          <p:cNvSpPr txBox="1"/>
          <p:nvPr/>
        </p:nvSpPr>
        <p:spPr>
          <a:xfrm>
            <a:off x="685800" y="2880360"/>
            <a:ext cx="2103120" cy="1371600"/>
          </a:xfrm>
          <a:prstGeom prst="rect">
            <a:avLst/>
          </a:prstGeom>
          <a:noFill/>
          <a:ln/>
        </p:spPr>
        <p:txBody>
          <a:bodyPr wrap="square" lIns="0" tIns="0" rIns="0" bIns="0" rtlCol="0" anchor="t"/>
          <a:lstStyle/>
          <a:p>
            <a:pPr indent="0" marL="0">
              <a:buNone/>
            </a:pPr>
            <a:r>
              <a:rPr lang="en-US" sz="1200" dirty="0">
                <a:solidFill>
                  <a:srgbClr val="646A7C"/>
                </a:solidFill>
                <a:latin typeface="Calibri" pitchFamily="34" charset="0"/>
                <a:ea typeface="Calibri" pitchFamily="34" charset="-122"/>
                <a:cs typeface="Calibri" pitchFamily="34" charset="-120"/>
              </a:rPr>
              <a:t>Persönlicher Hintergrund und Einstellung zur Leistung bestimmen, was als Konkurrenz verstanden wird.</a:t>
            </a:r>
            <a:endParaRPr lang="en-US" sz="1200" dirty="0"/>
          </a:p>
        </p:txBody>
      </p:sp>
      <p:sp>
        <p:nvSpPr>
          <p:cNvPr id="9" name="Shape 6"/>
          <p:cNvSpPr/>
          <p:nvPr/>
        </p:nvSpPr>
        <p:spPr>
          <a:xfrm>
            <a:off x="3291840" y="1508760"/>
            <a:ext cx="2560320" cy="3017520"/>
          </a:xfrm>
          <a:prstGeom prst="roundRect">
            <a:avLst>
              <a:gd name="adj" fmla="val 2857"/>
            </a:avLst>
          </a:prstGeom>
          <a:solidFill>
            <a:srgbClr val="14161F"/>
          </a:solidFill>
          <a:ln w="12700">
            <a:solidFill>
              <a:srgbClr val="14161F"/>
            </a:solidFill>
            <a:prstDash val="solid"/>
          </a:ln>
        </p:spPr>
      </p:sp>
      <p:sp>
        <p:nvSpPr>
          <p:cNvPr id="10" name="Shape 7"/>
          <p:cNvSpPr/>
          <p:nvPr/>
        </p:nvSpPr>
        <p:spPr>
          <a:xfrm>
            <a:off x="3520440" y="1737360"/>
            <a:ext cx="502920" cy="502920"/>
          </a:xfrm>
          <a:prstGeom prst="ellipse">
            <a:avLst/>
          </a:prstGeom>
          <a:solidFill>
            <a:srgbClr val="E8553B"/>
          </a:solidFill>
          <a:ln w="12700">
            <a:solidFill>
              <a:srgbClr val="E8553B"/>
            </a:solidFill>
            <a:prstDash val="solid"/>
          </a:ln>
        </p:spPr>
      </p:sp>
      <p:pic>
        <p:nvPicPr>
          <p:cNvPr id="11" name="Image 1" descr="preencoded.png">    </p:cNvPr>
          <p:cNvPicPr>
            <a:picLocks noChangeAspect="1"/>
          </p:cNvPicPr>
          <p:nvPr/>
        </p:nvPicPr>
        <p:blipFill>
          <a:blip r:embed="rId2"/>
          <a:stretch>
            <a:fillRect/>
          </a:stretch>
        </p:blipFill>
        <p:spPr>
          <a:xfrm>
            <a:off x="3646170" y="1863090"/>
            <a:ext cx="251460" cy="251460"/>
          </a:xfrm>
          <a:prstGeom prst="rect">
            <a:avLst/>
          </a:prstGeom>
        </p:spPr>
      </p:pic>
      <p:sp>
        <p:nvSpPr>
          <p:cNvPr id="12" name="Text 8"/>
          <p:cNvSpPr txBox="1"/>
          <p:nvPr/>
        </p:nvSpPr>
        <p:spPr>
          <a:xfrm>
            <a:off x="3520440" y="2423160"/>
            <a:ext cx="2103120" cy="365760"/>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Brennpunkt Praktika</a:t>
            </a:r>
            <a:endParaRPr lang="en-US" sz="1500" dirty="0"/>
          </a:p>
        </p:txBody>
      </p:sp>
      <p:sp>
        <p:nvSpPr>
          <p:cNvPr id="13" name="Text 9"/>
          <p:cNvSpPr txBox="1"/>
          <p:nvPr/>
        </p:nvSpPr>
        <p:spPr>
          <a:xfrm>
            <a:off x="3520440" y="2834640"/>
            <a:ext cx="2103120" cy="274320"/>
          </a:xfrm>
          <a:prstGeom prst="rect">
            <a:avLst/>
          </a:prstGeom>
          <a:noFill/>
          <a:ln/>
        </p:spPr>
        <p:txBody>
          <a:bodyPr wrap="square" lIns="0" tIns="0" rIns="0" bIns="0" rtlCol="0" anchor="ctr"/>
          <a:lstStyle/>
          <a:p>
            <a:pPr indent="0" marL="0">
              <a:buNone/>
            </a:pPr>
            <a:r>
              <a:rPr lang="en-US" sz="1150" dirty="0">
                <a:solidFill>
                  <a:srgbClr val="C9CCD8"/>
                </a:solidFill>
                <a:latin typeface="Calibri" pitchFamily="34" charset="0"/>
                <a:ea typeface="Calibri" pitchFamily="34" charset="-122"/>
                <a:cs typeface="Calibri" pitchFamily="34" charset="-120"/>
              </a:rPr>
              <a:t>Hier werden Unterschiede am deutlichsten:</a:t>
            </a:r>
            <a:endParaRPr lang="en-US" sz="1150" dirty="0"/>
          </a:p>
        </p:txBody>
      </p:sp>
      <p:sp>
        <p:nvSpPr>
          <p:cNvPr id="14" name="Shape 10"/>
          <p:cNvSpPr/>
          <p:nvPr/>
        </p:nvSpPr>
        <p:spPr>
          <a:xfrm>
            <a:off x="3520440" y="3246120"/>
            <a:ext cx="1005840" cy="1051560"/>
          </a:xfrm>
          <a:prstGeom prst="roundRect">
            <a:avLst>
              <a:gd name="adj" fmla="val 5455"/>
            </a:avLst>
          </a:prstGeom>
          <a:solidFill>
            <a:srgbClr val="E8553B"/>
          </a:solidFill>
          <a:ln w="12700">
            <a:solidFill>
              <a:srgbClr val="E8553B"/>
            </a:solidFill>
            <a:prstDash val="solid"/>
          </a:ln>
        </p:spPr>
      </p:sp>
      <p:sp>
        <p:nvSpPr>
          <p:cNvPr id="15" name="Text 11"/>
          <p:cNvSpPr txBox="1"/>
          <p:nvPr/>
        </p:nvSpPr>
        <p:spPr>
          <a:xfrm>
            <a:off x="3611880" y="3291840"/>
            <a:ext cx="822960" cy="960120"/>
          </a:xfrm>
          <a:prstGeom prst="rect">
            <a:avLst/>
          </a:prstGeom>
          <a:noFill/>
          <a:ln/>
        </p:spPr>
        <p:txBody>
          <a:bodyPr wrap="square" lIns="0" tIns="0" rIns="0" bIns="0" rtlCol="0" anchor="t"/>
          <a:lstStyle/>
          <a:p>
            <a:pPr indent="0" marL="0">
              <a:buNone/>
            </a:pPr>
            <a:r>
              <a:rPr lang="en-US" sz="1000" b="1" dirty="0">
                <a:solidFill>
                  <a:srgbClr val="FFFFFF"/>
                </a:solidFill>
                <a:latin typeface="Calibri" pitchFamily="34" charset="0"/>
                <a:ea typeface="Calibri" pitchFamily="34" charset="-122"/>
                <a:cs typeface="Calibri" pitchFamily="34" charset="-120"/>
              </a:rPr>
              <a:t>Zielstrebige</a:t>
            </a:r>
            <a:endParaRPr lang="en-US" sz="1000" dirty="0"/>
          </a:p>
          <a:p>
            <a:pPr indent="0" marL="0">
              <a:buNone/>
            </a:pPr>
            <a:r>
              <a:rPr lang="en-US" sz="1000" dirty="0">
                <a:solidFill>
                  <a:srgbClr val="FFFFFF"/>
                </a:solidFill>
                <a:latin typeface="Calibri" pitchFamily="34" charset="0"/>
                <a:ea typeface="Calibri" pitchFamily="34" charset="-122"/>
                <a:cs typeface="Calibri" pitchFamily="34" charset="-120"/>
              </a:rPr>
              <a:t>wollen die besseren Stellen</a:t>
            </a:r>
            <a:endParaRPr lang="en-US" sz="1000" dirty="0"/>
          </a:p>
        </p:txBody>
      </p:sp>
      <p:sp>
        <p:nvSpPr>
          <p:cNvPr id="16" name="Shape 12"/>
          <p:cNvSpPr/>
          <p:nvPr/>
        </p:nvSpPr>
        <p:spPr>
          <a:xfrm>
            <a:off x="4617720" y="3246120"/>
            <a:ext cx="1005840" cy="1051560"/>
          </a:xfrm>
          <a:prstGeom prst="roundRect">
            <a:avLst>
              <a:gd name="adj" fmla="val 5455"/>
            </a:avLst>
          </a:prstGeom>
          <a:solidFill>
            <a:srgbClr val="1F2230"/>
          </a:solidFill>
          <a:ln w="9525">
            <a:solidFill>
              <a:srgbClr val="3A3E52"/>
            </a:solidFill>
            <a:prstDash val="solid"/>
          </a:ln>
        </p:spPr>
      </p:sp>
      <p:sp>
        <p:nvSpPr>
          <p:cNvPr id="17" name="Text 13"/>
          <p:cNvSpPr txBox="1"/>
          <p:nvPr/>
        </p:nvSpPr>
        <p:spPr>
          <a:xfrm>
            <a:off x="4709160" y="3291840"/>
            <a:ext cx="822960" cy="960120"/>
          </a:xfrm>
          <a:prstGeom prst="rect">
            <a:avLst/>
          </a:prstGeom>
          <a:noFill/>
          <a:ln/>
        </p:spPr>
        <p:txBody>
          <a:bodyPr wrap="square" lIns="0" tIns="0" rIns="0" bIns="0" rtlCol="0" anchor="t"/>
          <a:lstStyle/>
          <a:p>
            <a:pPr indent="0" marL="0">
              <a:buNone/>
            </a:pPr>
            <a:r>
              <a:rPr lang="en-US" sz="1000" b="1" dirty="0">
                <a:solidFill>
                  <a:srgbClr val="C9CCD8"/>
                </a:solidFill>
                <a:latin typeface="Calibri" pitchFamily="34" charset="0"/>
                <a:ea typeface="Calibri" pitchFamily="34" charset="-122"/>
                <a:cs typeface="Calibri" pitchFamily="34" charset="-120"/>
              </a:rPr>
              <a:t>Weniger Ambitionierte</a:t>
            </a:r>
            <a:endParaRPr lang="en-US" sz="1000" dirty="0"/>
          </a:p>
          <a:p>
            <a:pPr indent="0" marL="0">
              <a:buNone/>
            </a:pPr>
            <a:r>
              <a:rPr lang="en-US" sz="1000" dirty="0">
                <a:solidFill>
                  <a:srgbClr val="C9CCD8"/>
                </a:solidFill>
                <a:latin typeface="Calibri" pitchFamily="34" charset="0"/>
                <a:ea typeface="Calibri" pitchFamily="34" charset="-122"/>
                <a:cs typeface="Calibri" pitchFamily="34" charset="-120"/>
              </a:rPr>
              <a:t>eher gleichgültig</a:t>
            </a:r>
            <a:endParaRPr lang="en-US" sz="1000" dirty="0"/>
          </a:p>
        </p:txBody>
      </p:sp>
      <p:sp>
        <p:nvSpPr>
          <p:cNvPr id="18" name="Shape 14"/>
          <p:cNvSpPr/>
          <p:nvPr/>
        </p:nvSpPr>
        <p:spPr>
          <a:xfrm>
            <a:off x="6126480" y="1508760"/>
            <a:ext cx="2560320" cy="3017520"/>
          </a:xfrm>
          <a:prstGeom prst="roundRect">
            <a:avLst>
              <a:gd name="adj" fmla="val 2857"/>
            </a:avLst>
          </a:prstGeom>
          <a:solidFill>
            <a:srgbClr val="DDF1EE"/>
          </a:solidFill>
          <a:ln w="12700">
            <a:solidFill>
              <a:srgbClr val="DDF1EE"/>
            </a:solidFill>
            <a:prstDash val="solid"/>
          </a:ln>
        </p:spPr>
      </p:sp>
      <p:sp>
        <p:nvSpPr>
          <p:cNvPr id="19" name="Shape 15"/>
          <p:cNvSpPr/>
          <p:nvPr/>
        </p:nvSpPr>
        <p:spPr>
          <a:xfrm>
            <a:off x="6355080" y="1737360"/>
            <a:ext cx="502920" cy="502920"/>
          </a:xfrm>
          <a:prstGeom prst="ellipse">
            <a:avLst/>
          </a:prstGeom>
          <a:solidFill>
            <a:srgbClr val="2A9D8F"/>
          </a:solidFill>
          <a:ln w="12700">
            <a:solidFill>
              <a:srgbClr val="2A9D8F"/>
            </a:solidFill>
            <a:prstDash val="solid"/>
          </a:ln>
        </p:spPr>
      </p:sp>
      <p:pic>
        <p:nvPicPr>
          <p:cNvPr id="20" name="Image 2" descr="preencoded.png">    </p:cNvPr>
          <p:cNvPicPr>
            <a:picLocks noChangeAspect="1"/>
          </p:cNvPicPr>
          <p:nvPr/>
        </p:nvPicPr>
        <p:blipFill>
          <a:blip r:embed="rId3"/>
          <a:stretch>
            <a:fillRect/>
          </a:stretch>
        </p:blipFill>
        <p:spPr>
          <a:xfrm>
            <a:off x="6480810" y="1863090"/>
            <a:ext cx="251460" cy="251460"/>
          </a:xfrm>
          <a:prstGeom prst="rect">
            <a:avLst/>
          </a:prstGeom>
        </p:spPr>
      </p:pic>
      <p:sp>
        <p:nvSpPr>
          <p:cNvPr id="21" name="Text 16"/>
          <p:cNvSpPr txBox="1"/>
          <p:nvPr/>
        </p:nvSpPr>
        <p:spPr>
          <a:xfrm>
            <a:off x="6355080" y="2423160"/>
            <a:ext cx="2103120" cy="365760"/>
          </a:xfrm>
          <a:prstGeom prst="rect">
            <a:avLst/>
          </a:prstGeom>
          <a:noFill/>
          <a:ln/>
        </p:spPr>
        <p:txBody>
          <a:bodyPr wrap="square" lIns="0" tIns="0" rIns="0" bIns="0" rtlCol="0" anchor="ctr"/>
          <a:lstStyle/>
          <a:p>
            <a:pPr indent="0" marL="0">
              <a:buNone/>
            </a:pPr>
            <a:r>
              <a:rPr lang="en-US" sz="1500" b="1" dirty="0">
                <a:solidFill>
                  <a:srgbClr val="1A1C25"/>
                </a:solidFill>
                <a:latin typeface="Arial" pitchFamily="34" charset="0"/>
                <a:ea typeface="Arial" pitchFamily="34" charset="-122"/>
                <a:cs typeface="Arial" pitchFamily="34" charset="-120"/>
              </a:rPr>
              <a:t>Kooperation im Kern</a:t>
            </a:r>
            <a:endParaRPr lang="en-US" sz="1500" dirty="0"/>
          </a:p>
        </p:txBody>
      </p:sp>
      <p:sp>
        <p:nvSpPr>
          <p:cNvPr id="22" name="Text 17"/>
          <p:cNvSpPr txBox="1"/>
          <p:nvPr/>
        </p:nvSpPr>
        <p:spPr>
          <a:xfrm>
            <a:off x="6355080" y="2880360"/>
            <a:ext cx="2103120" cy="1371600"/>
          </a:xfrm>
          <a:prstGeom prst="rect">
            <a:avLst/>
          </a:prstGeom>
          <a:noFill/>
          <a:ln/>
        </p:spPr>
        <p:txBody>
          <a:bodyPr wrap="square" lIns="0" tIns="0" rIns="0" bIns="0" rtlCol="0" anchor="t"/>
          <a:lstStyle/>
          <a:p>
            <a:pPr indent="0" marL="0">
              <a:buNone/>
            </a:pPr>
            <a:r>
              <a:rPr lang="en-US" sz="1200" dirty="0">
                <a:solidFill>
                  <a:srgbClr val="3E4A55"/>
                </a:solidFill>
                <a:latin typeface="Calibri" pitchFamily="34" charset="0"/>
                <a:ea typeface="Calibri" pitchFamily="34" charset="-122"/>
                <a:cs typeface="Calibri" pitchFamily="34" charset="-120"/>
              </a:rPr>
              <a:t>Im Freundes- und Lerngruppenkreis überwiegt meist kooperatives Verhalten.</a:t>
            </a:r>
            <a:endParaRPr lang="en-US" sz="1200" dirty="0"/>
          </a:p>
        </p:txBody>
      </p:sp>
      <p:sp>
        <p:nvSpPr>
          <p:cNvPr id="23" name="Text 18"/>
          <p:cNvSpPr txBox="1"/>
          <p:nvPr/>
        </p:nvSpPr>
        <p:spPr>
          <a:xfrm>
            <a:off x="457200" y="4773168"/>
            <a:ext cx="5486400" cy="228600"/>
          </a:xfrm>
          <a:prstGeom prst="rect">
            <a:avLst/>
          </a:prstGeom>
          <a:noFill/>
          <a:ln/>
        </p:spPr>
        <p:txBody>
          <a:bodyPr wrap="square" lIns="0" tIns="0" rIns="0" bIns="0" rtlCol="0" anchor="ctr"/>
          <a:lstStyle/>
          <a:p>
            <a:pPr indent="0" marL="0">
              <a:buNone/>
            </a:pPr>
            <a:r>
              <a:rPr lang="en-US" sz="850" dirty="0">
                <a:solidFill>
                  <a:srgbClr val="646A7C"/>
                </a:solidFill>
                <a:latin typeface="Calibri" pitchFamily="34" charset="0"/>
                <a:ea typeface="Calibri" pitchFamily="34" charset="-122"/>
                <a:cs typeface="Calibri" pitchFamily="34" charset="-120"/>
              </a:rPr>
              <a:t>Qualitative Methoden  ·  Arslan, Mansen, Schims, Stock</a:t>
            </a:r>
            <a:endParaRPr lang="en-US" sz="850" dirty="0"/>
          </a:p>
        </p:txBody>
      </p:sp>
      <p:sp>
        <p:nvSpPr>
          <p:cNvPr id="24" name="Text 19"/>
          <p:cNvSpPr txBox="1"/>
          <p:nvPr/>
        </p:nvSpPr>
        <p:spPr>
          <a:xfrm>
            <a:off x="7315200" y="4773168"/>
            <a:ext cx="1371600" cy="228600"/>
          </a:xfrm>
          <a:prstGeom prst="rect">
            <a:avLst/>
          </a:prstGeom>
          <a:noFill/>
          <a:ln/>
        </p:spPr>
        <p:txBody>
          <a:bodyPr wrap="square" lIns="0" tIns="0" rIns="0" bIns="0" rtlCol="0" anchor="ctr"/>
          <a:lstStyle/>
          <a:p>
            <a:pPr algn="r" indent="0" marL="0">
              <a:buNone/>
            </a:pPr>
            <a:r>
              <a:rPr lang="en-US" sz="850" dirty="0">
                <a:solidFill>
                  <a:srgbClr val="646A7C"/>
                </a:solidFill>
                <a:latin typeface="Calibri" pitchFamily="34" charset="0"/>
                <a:ea typeface="Calibri" pitchFamily="34" charset="-122"/>
                <a:cs typeface="Calibri" pitchFamily="34" charset="-120"/>
              </a:rPr>
              <a:t>09 / 11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61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900" b="1" spc="300" kern="0" dirty="0">
                <a:solidFill>
                  <a:srgbClr val="E8553B"/>
                </a:solidFill>
                <a:latin typeface="Arial" pitchFamily="34" charset="0"/>
                <a:ea typeface="Arial" pitchFamily="34" charset="-122"/>
                <a:cs typeface="Arial" pitchFamily="34" charset="-120"/>
              </a:rPr>
              <a:t>06  —  THEORIEBILDUNG</a:t>
            </a:r>
            <a:endParaRPr lang="en-US" sz="900" dirty="0"/>
          </a:p>
        </p:txBody>
      </p:sp>
      <p:sp>
        <p:nvSpPr>
          <p:cNvPr id="3" name="Text 1"/>
          <p:cNvSpPr txBox="1"/>
          <p:nvPr/>
        </p:nvSpPr>
        <p:spPr>
          <a:xfrm>
            <a:off x="457200" y="621792"/>
            <a:ext cx="8229600" cy="68580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Wettbewerb trifft Rückhalt</a:t>
            </a:r>
            <a:endParaRPr lang="en-US" sz="2800" dirty="0"/>
          </a:p>
        </p:txBody>
      </p:sp>
      <p:sp>
        <p:nvSpPr>
          <p:cNvPr id="4" name="Shape 2"/>
          <p:cNvSpPr/>
          <p:nvPr/>
        </p:nvSpPr>
        <p:spPr>
          <a:xfrm>
            <a:off x="457200" y="1600200"/>
            <a:ext cx="2468880" cy="1737360"/>
          </a:xfrm>
          <a:prstGeom prst="roundRect">
            <a:avLst>
              <a:gd name="adj" fmla="val 4211"/>
            </a:avLst>
          </a:prstGeom>
          <a:solidFill>
            <a:srgbClr val="E8553B"/>
          </a:solidFill>
          <a:ln w="12700">
            <a:solidFill>
              <a:srgbClr val="E8553B"/>
            </a:solidFill>
            <a:prstDash val="solid"/>
          </a:ln>
        </p:spPr>
      </p:sp>
      <p:sp>
        <p:nvSpPr>
          <p:cNvPr id="5" name="Shape 3"/>
          <p:cNvSpPr/>
          <p:nvPr/>
        </p:nvSpPr>
        <p:spPr>
          <a:xfrm>
            <a:off x="640080" y="178308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54380" y="1897380"/>
            <a:ext cx="228600" cy="228600"/>
          </a:xfrm>
          <a:prstGeom prst="rect">
            <a:avLst/>
          </a:prstGeom>
        </p:spPr>
      </p:pic>
      <p:sp>
        <p:nvSpPr>
          <p:cNvPr id="7" name="Text 4"/>
          <p:cNvSpPr txBox="1"/>
          <p:nvPr/>
        </p:nvSpPr>
        <p:spPr>
          <a:xfrm>
            <a:off x="1234440" y="1783080"/>
            <a:ext cx="1600200" cy="5029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Wettbewerbs-situationen</a:t>
            </a:r>
            <a:endParaRPr lang="en-US" sz="1300" dirty="0"/>
          </a:p>
        </p:txBody>
      </p:sp>
      <p:sp>
        <p:nvSpPr>
          <p:cNvPr id="8" name="Text 5"/>
          <p:cNvSpPr txBox="1"/>
          <p:nvPr/>
        </p:nvSpPr>
        <p:spPr>
          <a:xfrm>
            <a:off x="640080" y="2468880"/>
            <a:ext cx="2103120" cy="731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Begrenzte Ressourcen</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Leistungsbezogene Vorteile</a:t>
            </a:r>
            <a:endParaRPr lang="en-US" sz="1200" dirty="0"/>
          </a:p>
        </p:txBody>
      </p:sp>
      <p:sp>
        <p:nvSpPr>
          <p:cNvPr id="9" name="Shape 6"/>
          <p:cNvSpPr/>
          <p:nvPr/>
        </p:nvSpPr>
        <p:spPr>
          <a:xfrm>
            <a:off x="6217920" y="1600200"/>
            <a:ext cx="2468880" cy="1737360"/>
          </a:xfrm>
          <a:prstGeom prst="roundRect">
            <a:avLst>
              <a:gd name="adj" fmla="val 4211"/>
            </a:avLst>
          </a:prstGeom>
          <a:solidFill>
            <a:srgbClr val="2A9D8F"/>
          </a:solidFill>
          <a:ln w="12700">
            <a:solidFill>
              <a:srgbClr val="2A9D8F"/>
            </a:solidFill>
            <a:prstDash val="solid"/>
          </a:ln>
        </p:spPr>
      </p:sp>
      <p:sp>
        <p:nvSpPr>
          <p:cNvPr id="10" name="Shape 7"/>
          <p:cNvSpPr/>
          <p:nvPr/>
        </p:nvSpPr>
        <p:spPr>
          <a:xfrm>
            <a:off x="6400800" y="1783080"/>
            <a:ext cx="457200" cy="457200"/>
          </a:xfrm>
          <a:prstGeom prst="ellipse">
            <a:avLst/>
          </a:prstGeom>
          <a:solidFill>
            <a:srgbClr val="FFFFFF"/>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6515100" y="1897380"/>
            <a:ext cx="228600" cy="228600"/>
          </a:xfrm>
          <a:prstGeom prst="rect">
            <a:avLst/>
          </a:prstGeom>
        </p:spPr>
      </p:pic>
      <p:sp>
        <p:nvSpPr>
          <p:cNvPr id="12" name="Text 8"/>
          <p:cNvSpPr txBox="1"/>
          <p:nvPr/>
        </p:nvSpPr>
        <p:spPr>
          <a:xfrm>
            <a:off x="6995160" y="1783080"/>
            <a:ext cx="1600200" cy="5029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Soziale Unterstützung</a:t>
            </a:r>
            <a:endParaRPr lang="en-US" sz="1300" dirty="0"/>
          </a:p>
        </p:txBody>
      </p:sp>
      <p:sp>
        <p:nvSpPr>
          <p:cNvPr id="13" name="Text 9"/>
          <p:cNvSpPr txBox="1"/>
          <p:nvPr/>
        </p:nvSpPr>
        <p:spPr>
          <a:xfrm>
            <a:off x="6400800" y="2468880"/>
            <a:ext cx="2103120" cy="7315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Vertrauensvolle Beziehungen</a:t>
            </a:r>
            <a:endParaRPr lang="en-US" sz="1200" dirty="0"/>
          </a:p>
          <a:p>
            <a:pPr marL="342900" indent="-342900">
              <a:spcAft>
                <a:spcPts val="400"/>
              </a:spcAft>
              <a:buSzPct val="100000"/>
              <a:buChar char="•"/>
            </a:pPr>
            <a:r>
              <a:rPr lang="en-US" sz="1200" dirty="0">
                <a:solidFill>
                  <a:srgbClr val="FFFFFF"/>
                </a:solidFill>
                <a:latin typeface="Calibri" pitchFamily="34" charset="0"/>
                <a:ea typeface="Calibri" pitchFamily="34" charset="-122"/>
                <a:cs typeface="Calibri" pitchFamily="34" charset="-120"/>
              </a:rPr>
              <a:t>Kooperative Lernformen</a:t>
            </a:r>
            <a:endParaRPr lang="en-US" sz="1200" dirty="0"/>
          </a:p>
        </p:txBody>
      </p:sp>
      <p:sp>
        <p:nvSpPr>
          <p:cNvPr id="14" name="Shape 10"/>
          <p:cNvSpPr/>
          <p:nvPr/>
        </p:nvSpPr>
        <p:spPr>
          <a:xfrm>
            <a:off x="3703320" y="1600200"/>
            <a:ext cx="1737360" cy="1737360"/>
          </a:xfrm>
          <a:prstGeom prst="ellipse">
            <a:avLst/>
          </a:prstGeom>
          <a:solidFill>
            <a:srgbClr val="1F2230"/>
          </a:solidFill>
          <a:ln w="19050">
            <a:solidFill>
              <a:srgbClr val="FFFFFF"/>
            </a:solidFill>
            <a:prstDash val="solid"/>
          </a:ln>
        </p:spPr>
      </p:sp>
      <p:sp>
        <p:nvSpPr>
          <p:cNvPr id="15" name="Text 11"/>
          <p:cNvSpPr txBox="1"/>
          <p:nvPr/>
        </p:nvSpPr>
        <p:spPr>
          <a:xfrm>
            <a:off x="3794760" y="1600200"/>
            <a:ext cx="1554480" cy="17373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Konkurrenz-empfinden</a:t>
            </a:r>
            <a:endParaRPr lang="en-US" sz="1300" dirty="0"/>
          </a:p>
        </p:txBody>
      </p:sp>
      <p:sp>
        <p:nvSpPr>
          <p:cNvPr id="16" name="Shape 12"/>
          <p:cNvSpPr/>
          <p:nvPr/>
        </p:nvSpPr>
        <p:spPr>
          <a:xfrm>
            <a:off x="2999232" y="2468880"/>
            <a:ext cx="630936" cy="0"/>
          </a:xfrm>
          <a:prstGeom prst="line">
            <a:avLst/>
          </a:prstGeom>
          <a:noFill/>
          <a:ln w="31750">
            <a:solidFill>
              <a:srgbClr val="E8553B"/>
            </a:solidFill>
            <a:prstDash val="solid"/>
            <a:tailEnd type="triangle"/>
          </a:ln>
        </p:spPr>
      </p:sp>
      <p:sp>
        <p:nvSpPr>
          <p:cNvPr id="17" name="Text 13"/>
          <p:cNvSpPr txBox="1"/>
          <p:nvPr/>
        </p:nvSpPr>
        <p:spPr>
          <a:xfrm>
            <a:off x="2926080" y="2148840"/>
            <a:ext cx="777240" cy="256032"/>
          </a:xfrm>
          <a:prstGeom prst="rect">
            <a:avLst/>
          </a:prstGeom>
          <a:noFill/>
          <a:ln/>
        </p:spPr>
        <p:txBody>
          <a:bodyPr wrap="square" lIns="0" tIns="0" rIns="0" bIns="0" rtlCol="0" anchor="ctr"/>
          <a:lstStyle/>
          <a:p>
            <a:pPr algn="ctr" indent="0" marL="0">
              <a:buNone/>
            </a:pPr>
            <a:r>
              <a:rPr lang="en-US" sz="1050" b="1" dirty="0">
                <a:solidFill>
                  <a:srgbClr val="E8553B"/>
                </a:solidFill>
                <a:latin typeface="Calibri" pitchFamily="34" charset="0"/>
                <a:ea typeface="Calibri" pitchFamily="34" charset="-122"/>
                <a:cs typeface="Calibri" pitchFamily="34" charset="-120"/>
              </a:rPr>
              <a:t>verstärkt</a:t>
            </a:r>
            <a:endParaRPr lang="en-US" sz="1050" dirty="0"/>
          </a:p>
        </p:txBody>
      </p:sp>
      <p:sp>
        <p:nvSpPr>
          <p:cNvPr id="18" name="Shape 14"/>
          <p:cNvSpPr/>
          <p:nvPr/>
        </p:nvSpPr>
        <p:spPr>
          <a:xfrm>
            <a:off x="5513832" y="2468880"/>
            <a:ext cx="630936" cy="0"/>
          </a:xfrm>
          <a:prstGeom prst="line">
            <a:avLst/>
          </a:prstGeom>
          <a:noFill/>
          <a:ln w="31750">
            <a:solidFill>
              <a:srgbClr val="2A9D8F"/>
            </a:solidFill>
            <a:prstDash val="solid"/>
            <a:headEnd type="triangle"/>
          </a:ln>
        </p:spPr>
      </p:sp>
      <p:sp>
        <p:nvSpPr>
          <p:cNvPr id="19" name="Text 15"/>
          <p:cNvSpPr txBox="1"/>
          <p:nvPr/>
        </p:nvSpPr>
        <p:spPr>
          <a:xfrm>
            <a:off x="5440680" y="2148840"/>
            <a:ext cx="777240" cy="256032"/>
          </a:xfrm>
          <a:prstGeom prst="rect">
            <a:avLst/>
          </a:prstGeom>
          <a:noFill/>
          <a:ln/>
        </p:spPr>
        <p:txBody>
          <a:bodyPr wrap="square" lIns="0" tIns="0" rIns="0" bIns="0" rtlCol="0" anchor="ctr"/>
          <a:lstStyle/>
          <a:p>
            <a:pPr algn="ctr" indent="0" marL="0">
              <a:buNone/>
            </a:pPr>
            <a:r>
              <a:rPr lang="en-US" sz="1050" b="1" dirty="0">
                <a:solidFill>
                  <a:srgbClr val="2A9D8F"/>
                </a:solidFill>
                <a:latin typeface="Calibri" pitchFamily="34" charset="0"/>
                <a:ea typeface="Calibri" pitchFamily="34" charset="-122"/>
                <a:cs typeface="Calibri" pitchFamily="34" charset="-120"/>
              </a:rPr>
              <a:t>dämpft</a:t>
            </a:r>
            <a:endParaRPr lang="en-US" sz="1050" dirty="0"/>
          </a:p>
        </p:txBody>
      </p:sp>
      <p:sp>
        <p:nvSpPr>
          <p:cNvPr id="20" name="Text 16"/>
          <p:cNvSpPr txBox="1"/>
          <p:nvPr/>
        </p:nvSpPr>
        <p:spPr>
          <a:xfrm>
            <a:off x="457200" y="3703320"/>
            <a:ext cx="8229600" cy="685800"/>
          </a:xfrm>
          <a:prstGeom prst="rect">
            <a:avLst/>
          </a:prstGeom>
          <a:noFill/>
          <a:ln/>
        </p:spPr>
        <p:txBody>
          <a:bodyPr wrap="square" lIns="0" tIns="0" rIns="0" bIns="0" rtlCol="0" anchor="t"/>
          <a:lstStyle/>
          <a:p>
            <a:pPr indent="0" marL="0">
              <a:buNone/>
            </a:pPr>
            <a:r>
              <a:rPr lang="en-US" sz="1400" b="1" dirty="0">
                <a:solidFill>
                  <a:srgbClr val="E8553B"/>
                </a:solidFill>
                <a:latin typeface="Calibri" pitchFamily="34" charset="0"/>
                <a:ea typeface="Calibri" pitchFamily="34" charset="-122"/>
                <a:cs typeface="Calibri" pitchFamily="34" charset="-120"/>
              </a:rPr>
              <a:t>Vorläufige Annahme: </a:t>
            </a:r>
            <a:pPr indent="0" marL="0">
              <a:buNone/>
            </a:pPr>
            <a:r>
              <a:rPr lang="en-US" sz="1400" dirty="0">
                <a:solidFill>
                  <a:srgbClr val="FFFFFF"/>
                </a:solidFill>
                <a:latin typeface="Calibri" pitchFamily="34" charset="0"/>
                <a:ea typeface="Calibri" pitchFamily="34" charset="-122"/>
                <a:cs typeface="Calibri" pitchFamily="34" charset="-120"/>
              </a:rPr>
              <a:t>Nicht das BWL-Studium an sich erzeugt Konkurrenz – entscheidend ist das Zusammenspiel von Wettbewerbssituationen und sozialer Unterstützung.</a:t>
            </a:r>
            <a:endParaRPr lang="en-US" sz="1400" dirty="0"/>
          </a:p>
        </p:txBody>
      </p:sp>
      <p:sp>
        <p:nvSpPr>
          <p:cNvPr id="21" name="Text 17"/>
          <p:cNvSpPr txBox="1"/>
          <p:nvPr/>
        </p:nvSpPr>
        <p:spPr>
          <a:xfrm>
            <a:off x="457200" y="4773168"/>
            <a:ext cx="5486400" cy="228600"/>
          </a:xfrm>
          <a:prstGeom prst="rect">
            <a:avLst/>
          </a:prstGeom>
          <a:noFill/>
          <a:ln/>
        </p:spPr>
        <p:txBody>
          <a:bodyPr wrap="square" lIns="0" tIns="0" rIns="0" bIns="0" rtlCol="0" anchor="ctr"/>
          <a:lstStyle/>
          <a:p>
            <a:pPr indent="0" marL="0">
              <a:buNone/>
            </a:pPr>
            <a:r>
              <a:rPr lang="en-US" sz="850" dirty="0">
                <a:solidFill>
                  <a:srgbClr val="8A8FA3"/>
                </a:solidFill>
                <a:latin typeface="Calibri" pitchFamily="34" charset="0"/>
                <a:ea typeface="Calibri" pitchFamily="34" charset="-122"/>
                <a:cs typeface="Calibri" pitchFamily="34" charset="-120"/>
              </a:rPr>
              <a:t>Qualitative Methoden  ·  Arslan, Mansen, Schims, Stock</a:t>
            </a:r>
            <a:endParaRPr lang="en-US" sz="850" dirty="0"/>
          </a:p>
        </p:txBody>
      </p:sp>
      <p:sp>
        <p:nvSpPr>
          <p:cNvPr id="22" name="Text 18"/>
          <p:cNvSpPr txBox="1"/>
          <p:nvPr/>
        </p:nvSpPr>
        <p:spPr>
          <a:xfrm>
            <a:off x="7315200" y="4773168"/>
            <a:ext cx="1371600" cy="228600"/>
          </a:xfrm>
          <a:prstGeom prst="rect">
            <a:avLst/>
          </a:prstGeom>
          <a:noFill/>
          <a:ln/>
        </p:spPr>
        <p:txBody>
          <a:bodyPr wrap="square" lIns="0" tIns="0" rIns="0" bIns="0" rtlCol="0" anchor="ctr"/>
          <a:lstStyle/>
          <a:p>
            <a:pPr algn="r" indent="0" marL="0">
              <a:buNone/>
            </a:pPr>
            <a:r>
              <a:rPr lang="en-US" sz="850" dirty="0">
                <a:solidFill>
                  <a:srgbClr val="8A8FA3"/>
                </a:solidFill>
                <a:latin typeface="Calibri" pitchFamily="34" charset="0"/>
                <a:ea typeface="Calibri" pitchFamily="34" charset="-122"/>
                <a:cs typeface="Calibri" pitchFamily="34" charset="-120"/>
              </a:rPr>
              <a:t>10 / 11</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61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900" b="1" spc="300" kern="0" dirty="0">
                <a:solidFill>
                  <a:srgbClr val="E8553B"/>
                </a:solidFill>
                <a:latin typeface="Arial" pitchFamily="34" charset="0"/>
                <a:ea typeface="Arial" pitchFamily="34" charset="-122"/>
                <a:cs typeface="Arial" pitchFamily="34" charset="-120"/>
              </a:rPr>
              <a:t>07  —  AUSBLICK</a:t>
            </a:r>
            <a:endParaRPr lang="en-US" sz="900" dirty="0"/>
          </a:p>
        </p:txBody>
      </p:sp>
      <p:sp>
        <p:nvSpPr>
          <p:cNvPr id="3" name="Text 1"/>
          <p:cNvSpPr txBox="1"/>
          <p:nvPr/>
        </p:nvSpPr>
        <p:spPr>
          <a:xfrm>
            <a:off x="457200" y="621792"/>
            <a:ext cx="4114800" cy="68580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Wie es weitergeht</a:t>
            </a:r>
            <a:endParaRPr lang="en-US" sz="2800" dirty="0"/>
          </a:p>
        </p:txBody>
      </p:sp>
      <p:sp>
        <p:nvSpPr>
          <p:cNvPr id="4" name="Shape 2"/>
          <p:cNvSpPr/>
          <p:nvPr/>
        </p:nvSpPr>
        <p:spPr>
          <a:xfrm>
            <a:off x="457200" y="1554480"/>
            <a:ext cx="457200" cy="457200"/>
          </a:xfrm>
          <a:prstGeom prst="ellipse">
            <a:avLst/>
          </a:prstGeom>
          <a:solidFill>
            <a:srgbClr val="1F2230"/>
          </a:solidFill>
          <a:ln w="19050">
            <a:solidFill>
              <a:srgbClr val="E8553B"/>
            </a:solidFill>
            <a:prstDash val="solid"/>
          </a:ln>
        </p:spPr>
      </p:sp>
      <p:sp>
        <p:nvSpPr>
          <p:cNvPr id="5" name="Text 3"/>
          <p:cNvSpPr txBox="1"/>
          <p:nvPr/>
        </p:nvSpPr>
        <p:spPr>
          <a:xfrm>
            <a:off x="457200" y="1554480"/>
            <a:ext cx="457200" cy="457200"/>
          </a:xfrm>
          <a:prstGeom prst="rect">
            <a:avLst/>
          </a:prstGeom>
          <a:noFill/>
          <a:ln/>
        </p:spPr>
        <p:txBody>
          <a:bodyPr wrap="square" lIns="0" tIns="0" rIns="0" bIns="0" rtlCol="0" anchor="ctr"/>
          <a:lstStyle/>
          <a:p>
            <a:pPr algn="ctr" indent="0" marL="0">
              <a:buNone/>
            </a:pPr>
            <a:r>
              <a:rPr lang="en-US" sz="1300" b="1" dirty="0">
                <a:solidFill>
                  <a:srgbClr val="E8553B"/>
                </a:solidFill>
                <a:latin typeface="Arial" pitchFamily="34" charset="0"/>
                <a:ea typeface="Arial" pitchFamily="34" charset="-122"/>
                <a:cs typeface="Arial" pitchFamily="34" charset="-120"/>
              </a:rPr>
              <a:t>1</a:t>
            </a:r>
            <a:endParaRPr lang="en-US" sz="1300" dirty="0"/>
          </a:p>
        </p:txBody>
      </p:sp>
      <p:sp>
        <p:nvSpPr>
          <p:cNvPr id="6" name="Text 4"/>
          <p:cNvSpPr txBox="1"/>
          <p:nvPr/>
        </p:nvSpPr>
        <p:spPr>
          <a:xfrm>
            <a:off x="1097280" y="1517904"/>
            <a:ext cx="329184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Annahme überprüfen</a:t>
            </a:r>
            <a:endParaRPr lang="en-US" sz="1400" dirty="0"/>
          </a:p>
        </p:txBody>
      </p:sp>
      <p:sp>
        <p:nvSpPr>
          <p:cNvPr id="7" name="Text 5"/>
          <p:cNvSpPr txBox="1"/>
          <p:nvPr/>
        </p:nvSpPr>
        <p:spPr>
          <a:xfrm>
            <a:off x="1097280" y="1801368"/>
            <a:ext cx="3291840" cy="274320"/>
          </a:xfrm>
          <a:prstGeom prst="rect">
            <a:avLst/>
          </a:prstGeom>
          <a:noFill/>
          <a:ln/>
        </p:spPr>
        <p:txBody>
          <a:bodyPr wrap="square" lIns="0" tIns="0" rIns="0" bIns="0" rtlCol="0" anchor="ctr"/>
          <a:lstStyle/>
          <a:p>
            <a:pPr indent="0" marL="0">
              <a:buNone/>
            </a:pPr>
            <a:r>
              <a:rPr lang="en-US" sz="1150" dirty="0">
                <a:solidFill>
                  <a:srgbClr val="A9AEC0"/>
                </a:solidFill>
                <a:latin typeface="Calibri" pitchFamily="34" charset="0"/>
                <a:ea typeface="Calibri" pitchFamily="34" charset="-122"/>
                <a:cs typeface="Calibri" pitchFamily="34" charset="-120"/>
              </a:rPr>
              <a:t>in der weiteren qualitativen Auswertung</a:t>
            </a:r>
            <a:endParaRPr lang="en-US" sz="1150" dirty="0"/>
          </a:p>
        </p:txBody>
      </p:sp>
      <p:sp>
        <p:nvSpPr>
          <p:cNvPr id="8" name="Shape 6"/>
          <p:cNvSpPr/>
          <p:nvPr/>
        </p:nvSpPr>
        <p:spPr>
          <a:xfrm>
            <a:off x="457200" y="2423160"/>
            <a:ext cx="457200" cy="457200"/>
          </a:xfrm>
          <a:prstGeom prst="ellipse">
            <a:avLst/>
          </a:prstGeom>
          <a:solidFill>
            <a:srgbClr val="1F2230"/>
          </a:solidFill>
          <a:ln w="19050">
            <a:solidFill>
              <a:srgbClr val="E8553B"/>
            </a:solidFill>
            <a:prstDash val="solid"/>
          </a:ln>
        </p:spPr>
      </p:sp>
      <p:sp>
        <p:nvSpPr>
          <p:cNvPr id="9" name="Text 7"/>
          <p:cNvSpPr txBox="1"/>
          <p:nvPr/>
        </p:nvSpPr>
        <p:spPr>
          <a:xfrm>
            <a:off x="457200" y="2423160"/>
            <a:ext cx="457200" cy="457200"/>
          </a:xfrm>
          <a:prstGeom prst="rect">
            <a:avLst/>
          </a:prstGeom>
          <a:noFill/>
          <a:ln/>
        </p:spPr>
        <p:txBody>
          <a:bodyPr wrap="square" lIns="0" tIns="0" rIns="0" bIns="0" rtlCol="0" anchor="ctr"/>
          <a:lstStyle/>
          <a:p>
            <a:pPr algn="ctr" indent="0" marL="0">
              <a:buNone/>
            </a:pPr>
            <a:r>
              <a:rPr lang="en-US" sz="1300" b="1" dirty="0">
                <a:solidFill>
                  <a:srgbClr val="E8553B"/>
                </a:solidFill>
                <a:latin typeface="Arial" pitchFamily="34" charset="0"/>
                <a:ea typeface="Arial" pitchFamily="34" charset="-122"/>
                <a:cs typeface="Arial" pitchFamily="34" charset="-120"/>
              </a:rPr>
              <a:t>2</a:t>
            </a:r>
            <a:endParaRPr lang="en-US" sz="1300" dirty="0"/>
          </a:p>
        </p:txBody>
      </p:sp>
      <p:sp>
        <p:nvSpPr>
          <p:cNvPr id="10" name="Text 8"/>
          <p:cNvSpPr txBox="1"/>
          <p:nvPr/>
        </p:nvSpPr>
        <p:spPr>
          <a:xfrm>
            <a:off x="1097280" y="2386584"/>
            <a:ext cx="329184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Zusätzliche Codierungen</a:t>
            </a:r>
            <a:endParaRPr lang="en-US" sz="1400" dirty="0"/>
          </a:p>
        </p:txBody>
      </p:sp>
      <p:sp>
        <p:nvSpPr>
          <p:cNvPr id="11" name="Text 9"/>
          <p:cNvSpPr txBox="1"/>
          <p:nvPr/>
        </p:nvSpPr>
        <p:spPr>
          <a:xfrm>
            <a:off x="1097280" y="2670048"/>
            <a:ext cx="3291840" cy="274320"/>
          </a:xfrm>
          <a:prstGeom prst="rect">
            <a:avLst/>
          </a:prstGeom>
          <a:noFill/>
          <a:ln/>
        </p:spPr>
        <p:txBody>
          <a:bodyPr wrap="square" lIns="0" tIns="0" rIns="0" bIns="0" rtlCol="0" anchor="ctr"/>
          <a:lstStyle/>
          <a:p>
            <a:pPr indent="0" marL="0">
              <a:buNone/>
            </a:pPr>
            <a:r>
              <a:rPr lang="en-US" sz="1150" dirty="0">
                <a:solidFill>
                  <a:srgbClr val="A9AEC0"/>
                </a:solidFill>
                <a:latin typeface="Calibri" pitchFamily="34" charset="0"/>
                <a:ea typeface="Calibri" pitchFamily="34" charset="-122"/>
                <a:cs typeface="Calibri" pitchFamily="34" charset="-120"/>
              </a:rPr>
              <a:t>zur Schärfung der Kategorien</a:t>
            </a:r>
            <a:endParaRPr lang="en-US" sz="1150" dirty="0"/>
          </a:p>
        </p:txBody>
      </p:sp>
      <p:sp>
        <p:nvSpPr>
          <p:cNvPr id="12" name="Shape 10"/>
          <p:cNvSpPr/>
          <p:nvPr/>
        </p:nvSpPr>
        <p:spPr>
          <a:xfrm>
            <a:off x="457200" y="3291840"/>
            <a:ext cx="457200" cy="457200"/>
          </a:xfrm>
          <a:prstGeom prst="ellipse">
            <a:avLst/>
          </a:prstGeom>
          <a:solidFill>
            <a:srgbClr val="1F2230"/>
          </a:solidFill>
          <a:ln w="19050">
            <a:solidFill>
              <a:srgbClr val="E8553B"/>
            </a:solidFill>
            <a:prstDash val="solid"/>
          </a:ln>
        </p:spPr>
      </p:sp>
      <p:sp>
        <p:nvSpPr>
          <p:cNvPr id="13" name="Text 11"/>
          <p:cNvSpPr txBox="1"/>
          <p:nvPr/>
        </p:nvSpPr>
        <p:spPr>
          <a:xfrm>
            <a:off x="457200" y="3291840"/>
            <a:ext cx="457200" cy="457200"/>
          </a:xfrm>
          <a:prstGeom prst="rect">
            <a:avLst/>
          </a:prstGeom>
          <a:noFill/>
          <a:ln/>
        </p:spPr>
        <p:txBody>
          <a:bodyPr wrap="square" lIns="0" tIns="0" rIns="0" bIns="0" rtlCol="0" anchor="ctr"/>
          <a:lstStyle/>
          <a:p>
            <a:pPr algn="ctr" indent="0" marL="0">
              <a:buNone/>
            </a:pPr>
            <a:r>
              <a:rPr lang="en-US" sz="1300" b="1" dirty="0">
                <a:solidFill>
                  <a:srgbClr val="E8553B"/>
                </a:solidFill>
                <a:latin typeface="Arial" pitchFamily="34" charset="0"/>
                <a:ea typeface="Arial" pitchFamily="34" charset="-122"/>
                <a:cs typeface="Arial" pitchFamily="34" charset="-120"/>
              </a:rPr>
              <a:t>3</a:t>
            </a:r>
            <a:endParaRPr lang="en-US" sz="1300" dirty="0"/>
          </a:p>
        </p:txBody>
      </p:sp>
      <p:sp>
        <p:nvSpPr>
          <p:cNvPr id="14" name="Text 12"/>
          <p:cNvSpPr txBox="1"/>
          <p:nvPr/>
        </p:nvSpPr>
        <p:spPr>
          <a:xfrm>
            <a:off x="1097280" y="3255264"/>
            <a:ext cx="329184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Theorie weiterentwickeln</a:t>
            </a:r>
            <a:endParaRPr lang="en-US" sz="1400" dirty="0"/>
          </a:p>
        </p:txBody>
      </p:sp>
      <p:sp>
        <p:nvSpPr>
          <p:cNvPr id="15" name="Text 13"/>
          <p:cNvSpPr txBox="1"/>
          <p:nvPr/>
        </p:nvSpPr>
        <p:spPr>
          <a:xfrm>
            <a:off x="1097280" y="3538728"/>
            <a:ext cx="3291840" cy="274320"/>
          </a:xfrm>
          <a:prstGeom prst="rect">
            <a:avLst/>
          </a:prstGeom>
          <a:noFill/>
          <a:ln/>
        </p:spPr>
        <p:txBody>
          <a:bodyPr wrap="square" lIns="0" tIns="0" rIns="0" bIns="0" rtlCol="0" anchor="ctr"/>
          <a:lstStyle/>
          <a:p>
            <a:pPr indent="0" marL="0">
              <a:buNone/>
            </a:pPr>
            <a:r>
              <a:rPr lang="en-US" sz="1150" dirty="0">
                <a:solidFill>
                  <a:srgbClr val="A9AEC0"/>
                </a:solidFill>
                <a:latin typeface="Calibri" pitchFamily="34" charset="0"/>
                <a:ea typeface="Calibri" pitchFamily="34" charset="-122"/>
                <a:cs typeface="Calibri" pitchFamily="34" charset="-120"/>
              </a:rPr>
              <a:t>auf Basis der neuen Befunde</a:t>
            </a:r>
            <a:endParaRPr lang="en-US" sz="1150" dirty="0"/>
          </a:p>
        </p:txBody>
      </p:sp>
      <p:sp>
        <p:nvSpPr>
          <p:cNvPr id="16" name="Shape 14"/>
          <p:cNvSpPr/>
          <p:nvPr/>
        </p:nvSpPr>
        <p:spPr>
          <a:xfrm>
            <a:off x="5394960" y="548640"/>
            <a:ext cx="2103120" cy="2103120"/>
          </a:xfrm>
          <a:prstGeom prst="ellipse">
            <a:avLst/>
          </a:prstGeom>
          <a:solidFill>
            <a:srgbClr val="E8553B">
              <a:alpha val="90000"/>
            </a:srgbClr>
          </a:solidFill>
          <a:ln w="12700">
            <a:solidFill>
              <a:srgbClr val="E8553B">
                <a:alpha val="0"/>
              </a:srgbClr>
            </a:solidFill>
            <a:prstDash val="solid"/>
          </a:ln>
        </p:spPr>
      </p:sp>
      <p:sp>
        <p:nvSpPr>
          <p:cNvPr id="17" name="Shape 15"/>
          <p:cNvSpPr/>
          <p:nvPr/>
        </p:nvSpPr>
        <p:spPr>
          <a:xfrm>
            <a:off x="6400800" y="1143000"/>
            <a:ext cx="2103120" cy="2103120"/>
          </a:xfrm>
          <a:prstGeom prst="ellipse">
            <a:avLst/>
          </a:prstGeom>
          <a:solidFill>
            <a:srgbClr val="2A9D8F">
              <a:alpha val="75000"/>
            </a:srgbClr>
          </a:solidFill>
          <a:ln w="12700">
            <a:solidFill>
              <a:srgbClr val="2A9D8F">
                <a:alpha val="0"/>
              </a:srgbClr>
            </a:solidFill>
            <a:prstDash val="solid"/>
          </a:ln>
        </p:spPr>
      </p:sp>
      <p:sp>
        <p:nvSpPr>
          <p:cNvPr id="18" name="Text 16"/>
          <p:cNvSpPr txBox="1"/>
          <p:nvPr/>
        </p:nvSpPr>
        <p:spPr>
          <a:xfrm>
            <a:off x="5029200" y="3703320"/>
            <a:ext cx="3657600" cy="548640"/>
          </a:xfrm>
          <a:prstGeom prst="rect">
            <a:avLst/>
          </a:prstGeom>
          <a:noFill/>
          <a:ln/>
        </p:spPr>
        <p:txBody>
          <a:bodyPr wrap="square" lIns="0" tIns="0" rIns="0" bIns="0" rtlCol="0" anchor="ctr"/>
          <a:lstStyle/>
          <a:p>
            <a:pPr algn="r" indent="0" marL="0">
              <a:buNone/>
            </a:pPr>
            <a:r>
              <a:rPr lang="en-US" sz="3000" b="1" dirty="0">
                <a:solidFill>
                  <a:srgbClr val="FFFFFF"/>
                </a:solidFill>
                <a:latin typeface="Arial" pitchFamily="34" charset="0"/>
                <a:ea typeface="Arial" pitchFamily="34" charset="-122"/>
                <a:cs typeface="Arial" pitchFamily="34" charset="-120"/>
              </a:rPr>
              <a:t>Vielen Dank.</a:t>
            </a:r>
            <a:endParaRPr lang="en-US" sz="3000" dirty="0"/>
          </a:p>
        </p:txBody>
      </p:sp>
      <p:sp>
        <p:nvSpPr>
          <p:cNvPr id="19" name="Text 17"/>
          <p:cNvSpPr txBox="1"/>
          <p:nvPr/>
        </p:nvSpPr>
        <p:spPr>
          <a:xfrm>
            <a:off x="5029200" y="4224528"/>
            <a:ext cx="3657600" cy="320040"/>
          </a:xfrm>
          <a:prstGeom prst="rect">
            <a:avLst/>
          </a:prstGeom>
          <a:noFill/>
          <a:ln/>
        </p:spPr>
        <p:txBody>
          <a:bodyPr wrap="square" lIns="0" tIns="0" rIns="0" bIns="0" rtlCol="0" anchor="ctr"/>
          <a:lstStyle/>
          <a:p>
            <a:pPr algn="r" indent="0" marL="0">
              <a:buNone/>
            </a:pPr>
            <a:r>
              <a:rPr lang="en-US" sz="1300" dirty="0">
                <a:solidFill>
                  <a:srgbClr val="E8553B"/>
                </a:solidFill>
                <a:latin typeface="Calibri" pitchFamily="34" charset="0"/>
                <a:ea typeface="Calibri" pitchFamily="34" charset="-122"/>
                <a:cs typeface="Calibri" pitchFamily="34" charset="-120"/>
              </a:rPr>
              <a:t>Fragen &amp; Diskussion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Konkurrenz im BWL-Studium</dc:title>
  <dc:subject>PptxGenJS Presentation</dc:subject>
  <dc:creator>Kerim Arslan, Moritz Mansen, Maximilian Schims, Philip Stock</dc:creator>
  <cp:lastModifiedBy>Kerim Arslan, Moritz Mansen, Maximilian Schims, Philip Stock</cp:lastModifiedBy>
  <cp:revision>1</cp:revision>
  <dcterms:created xsi:type="dcterms:W3CDTF">2026-10-01T11:23:17Z</dcterms:created>
  <dcterms:modified xsi:type="dcterms:W3CDTF">2026-10-01T11:23:17Z</dcterms:modified>
</cp:coreProperties>
</file>